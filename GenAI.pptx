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4" r:id="rId4"/>
    <p:sldId id="262" r:id="rId5"/>
    <p:sldId id="260" r:id="rId6"/>
    <p:sldId id="267" r:id="rId7"/>
    <p:sldId id="266"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56323B-8C0B-7F4C-8E5C-963CBBBFECEF}" v="22" dt="2024-03-07T12:16:14.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692"/>
  </p:normalViewPr>
  <p:slideViewPr>
    <p:cSldViewPr snapToGrid="0">
      <p:cViewPr varScale="1">
        <p:scale>
          <a:sx n="96" d="100"/>
          <a:sy n="96" d="100"/>
        </p:scale>
        <p:origin x="200"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EFCF85-1BEF-4FC2-A2D2-514142484176}" type="doc">
      <dgm:prSet loTypeId="urn:microsoft.com/office/officeart/2005/8/layout/process1" loCatId="process" qsTypeId="urn:microsoft.com/office/officeart/2005/8/quickstyle/simple1" qsCatId="simple" csTypeId="urn:microsoft.com/office/officeart/2005/8/colors/colorful5" csCatId="colorful" phldr="1"/>
      <dgm:spPr/>
      <dgm:t>
        <a:bodyPr/>
        <a:lstStyle/>
        <a:p>
          <a:endParaRPr lang="en-US"/>
        </a:p>
      </dgm:t>
    </dgm:pt>
    <dgm:pt modelId="{BD982B38-AE9E-4F8F-A133-243F8BC5066E}">
      <dgm:prSet/>
      <dgm:spPr/>
      <dgm:t>
        <a:bodyPr/>
        <a:lstStyle/>
        <a:p>
          <a:r>
            <a:rPr lang="en-IN" b="1" i="0" dirty="0"/>
            <a:t>Ensure data privacy</a:t>
          </a:r>
          <a:r>
            <a:rPr lang="en-IN" b="0" i="0" dirty="0"/>
            <a:t>: Enterprises must ensure that data sent to large language models (LLMs) is secure and private. LLM providers, such as Meta, Amazon Web Services, Azure, or Google Cloud Platform, guarantee that enterprise data is not used to train generally available models and provide a mechanism to run LMMs within the enterprise network to keep data under control.</a:t>
          </a:r>
          <a:endParaRPr lang="en-US" dirty="0"/>
        </a:p>
      </dgm:t>
    </dgm:pt>
    <dgm:pt modelId="{15999C7C-3714-4425-AD01-F5DB151C10E7}" type="parTrans" cxnId="{6CBE4C66-7007-41DA-BB8C-4E005CC06DA5}">
      <dgm:prSet/>
      <dgm:spPr/>
      <dgm:t>
        <a:bodyPr/>
        <a:lstStyle/>
        <a:p>
          <a:endParaRPr lang="en-US"/>
        </a:p>
      </dgm:t>
    </dgm:pt>
    <dgm:pt modelId="{6200A8B1-0AB9-4CDA-9CBF-14FE08D71169}" type="sibTrans" cxnId="{6CBE4C66-7007-41DA-BB8C-4E005CC06DA5}">
      <dgm:prSet/>
      <dgm:spPr/>
      <dgm:t>
        <a:bodyPr/>
        <a:lstStyle/>
        <a:p>
          <a:endParaRPr lang="en-US"/>
        </a:p>
      </dgm:t>
    </dgm:pt>
    <dgm:pt modelId="{0A5B7388-A0EE-477E-B5A9-FE127F41469B}">
      <dgm:prSet/>
      <dgm:spPr/>
      <dgm:t>
        <a:bodyPr/>
        <a:lstStyle/>
        <a:p>
          <a:r>
            <a:rPr lang="en-IN" b="1" i="0" dirty="0"/>
            <a:t>Contextualize model retraining</a:t>
          </a:r>
          <a:r>
            <a:rPr lang="en-IN" b="0" i="0" dirty="0"/>
            <a:t>: Enterprises can start with generally available LLMs to save costs when using </a:t>
          </a:r>
          <a:r>
            <a:rPr lang="en-IN" b="0" i="0" dirty="0" err="1"/>
            <a:t>GenAI</a:t>
          </a:r>
          <a:r>
            <a:rPr lang="en-IN" b="0" i="0" dirty="0"/>
            <a:t>. Evaluate and retrain them with custom data if needed for higher accuracy and to eliminate model biases. Incremental retraining or Reinforcement Learning from Human Feedback (RLHF) may be required.</a:t>
          </a:r>
          <a:endParaRPr lang="en-US" dirty="0"/>
        </a:p>
      </dgm:t>
    </dgm:pt>
    <dgm:pt modelId="{A9E6C98A-2294-4158-B855-993C822E001F}" type="parTrans" cxnId="{CF66C41E-FF64-4188-B77F-6A88896F52EF}">
      <dgm:prSet/>
      <dgm:spPr/>
      <dgm:t>
        <a:bodyPr/>
        <a:lstStyle/>
        <a:p>
          <a:endParaRPr lang="en-US"/>
        </a:p>
      </dgm:t>
    </dgm:pt>
    <dgm:pt modelId="{19AF8DD3-6959-4476-B98E-9761C198E84E}" type="sibTrans" cxnId="{CF66C41E-FF64-4188-B77F-6A88896F52EF}">
      <dgm:prSet/>
      <dgm:spPr/>
      <dgm:t>
        <a:bodyPr/>
        <a:lstStyle/>
        <a:p>
          <a:endParaRPr lang="en-US"/>
        </a:p>
      </dgm:t>
    </dgm:pt>
    <dgm:pt modelId="{5DE60576-B6B9-4627-BBCC-CDC579911433}">
      <dgm:prSet/>
      <dgm:spPr/>
      <dgm:t>
        <a:bodyPr/>
        <a:lstStyle/>
        <a:p>
          <a:r>
            <a:rPr lang="en-IN" b="1" i="0" dirty="0"/>
            <a:t>Adopt a platform approach</a:t>
          </a:r>
          <a:r>
            <a:rPr lang="en-IN" b="0" i="0" dirty="0"/>
            <a:t>: Leveraging </a:t>
          </a:r>
          <a:r>
            <a:rPr lang="en-IN" b="0" i="0" dirty="0" err="1"/>
            <a:t>GenAI</a:t>
          </a:r>
          <a:r>
            <a:rPr lang="en-IN" b="0" i="0" dirty="0"/>
            <a:t> as a platform for DevOps offers a comprehensive mechanism that supplements multiple dimensions, starting with error log analysis and expanding to vulnerability analysis.</a:t>
          </a:r>
          <a:endParaRPr lang="en-US" dirty="0"/>
        </a:p>
      </dgm:t>
    </dgm:pt>
    <dgm:pt modelId="{DB9ACC4E-585D-4B69-8D13-5960B333277B}" type="parTrans" cxnId="{2A51EA88-40B6-4650-8070-6104F7BE7FA6}">
      <dgm:prSet/>
      <dgm:spPr/>
      <dgm:t>
        <a:bodyPr/>
        <a:lstStyle/>
        <a:p>
          <a:endParaRPr lang="en-US"/>
        </a:p>
      </dgm:t>
    </dgm:pt>
    <dgm:pt modelId="{B2C0F472-13B6-478E-80A3-ECD4FD6D70DD}" type="sibTrans" cxnId="{2A51EA88-40B6-4650-8070-6104F7BE7FA6}">
      <dgm:prSet/>
      <dgm:spPr/>
      <dgm:t>
        <a:bodyPr/>
        <a:lstStyle/>
        <a:p>
          <a:endParaRPr lang="en-US"/>
        </a:p>
      </dgm:t>
    </dgm:pt>
    <dgm:pt modelId="{73196C9C-FD4A-264A-8A16-6FA30F4BFF7F}" type="pres">
      <dgm:prSet presAssocID="{9EEFCF85-1BEF-4FC2-A2D2-514142484176}" presName="Name0" presStyleCnt="0">
        <dgm:presLayoutVars>
          <dgm:dir/>
          <dgm:resizeHandles val="exact"/>
        </dgm:presLayoutVars>
      </dgm:prSet>
      <dgm:spPr/>
    </dgm:pt>
    <dgm:pt modelId="{060160B2-BF85-9E43-A736-B20042BC787A}" type="pres">
      <dgm:prSet presAssocID="{BD982B38-AE9E-4F8F-A133-243F8BC5066E}" presName="node" presStyleLbl="node1" presStyleIdx="0" presStyleCnt="3">
        <dgm:presLayoutVars>
          <dgm:bulletEnabled val="1"/>
        </dgm:presLayoutVars>
      </dgm:prSet>
      <dgm:spPr/>
    </dgm:pt>
    <dgm:pt modelId="{C3AEC2E1-0E6E-A24C-9062-69A9C69B908A}" type="pres">
      <dgm:prSet presAssocID="{6200A8B1-0AB9-4CDA-9CBF-14FE08D71169}" presName="sibTrans" presStyleLbl="sibTrans2D1" presStyleIdx="0" presStyleCnt="2"/>
      <dgm:spPr/>
    </dgm:pt>
    <dgm:pt modelId="{565C1674-4D14-7249-A6CD-D6870D40ECB2}" type="pres">
      <dgm:prSet presAssocID="{6200A8B1-0AB9-4CDA-9CBF-14FE08D71169}" presName="connectorText" presStyleLbl="sibTrans2D1" presStyleIdx="0" presStyleCnt="2"/>
      <dgm:spPr/>
    </dgm:pt>
    <dgm:pt modelId="{108457ED-BB84-6745-97B0-CBFA7BD91C97}" type="pres">
      <dgm:prSet presAssocID="{0A5B7388-A0EE-477E-B5A9-FE127F41469B}" presName="node" presStyleLbl="node1" presStyleIdx="1" presStyleCnt="3">
        <dgm:presLayoutVars>
          <dgm:bulletEnabled val="1"/>
        </dgm:presLayoutVars>
      </dgm:prSet>
      <dgm:spPr/>
    </dgm:pt>
    <dgm:pt modelId="{2F0EEEFD-9A6A-9847-80DA-E5AF27744829}" type="pres">
      <dgm:prSet presAssocID="{19AF8DD3-6959-4476-B98E-9761C198E84E}" presName="sibTrans" presStyleLbl="sibTrans2D1" presStyleIdx="1" presStyleCnt="2"/>
      <dgm:spPr/>
    </dgm:pt>
    <dgm:pt modelId="{ECD5C6F6-3004-F441-AF91-A6294F4EC8BA}" type="pres">
      <dgm:prSet presAssocID="{19AF8DD3-6959-4476-B98E-9761C198E84E}" presName="connectorText" presStyleLbl="sibTrans2D1" presStyleIdx="1" presStyleCnt="2"/>
      <dgm:spPr/>
    </dgm:pt>
    <dgm:pt modelId="{25848763-CB29-0A45-B651-BC0C8CA02916}" type="pres">
      <dgm:prSet presAssocID="{5DE60576-B6B9-4627-BBCC-CDC579911433}" presName="node" presStyleLbl="node1" presStyleIdx="2" presStyleCnt="3">
        <dgm:presLayoutVars>
          <dgm:bulletEnabled val="1"/>
        </dgm:presLayoutVars>
      </dgm:prSet>
      <dgm:spPr/>
    </dgm:pt>
  </dgm:ptLst>
  <dgm:cxnLst>
    <dgm:cxn modelId="{CF66C41E-FF64-4188-B77F-6A88896F52EF}" srcId="{9EEFCF85-1BEF-4FC2-A2D2-514142484176}" destId="{0A5B7388-A0EE-477E-B5A9-FE127F41469B}" srcOrd="1" destOrd="0" parTransId="{A9E6C98A-2294-4158-B855-993C822E001F}" sibTransId="{19AF8DD3-6959-4476-B98E-9761C198E84E}"/>
    <dgm:cxn modelId="{7FDCE921-75FB-B74F-BAB8-711EB77FC75C}" type="presOf" srcId="{5DE60576-B6B9-4627-BBCC-CDC579911433}" destId="{25848763-CB29-0A45-B651-BC0C8CA02916}" srcOrd="0" destOrd="0" presId="urn:microsoft.com/office/officeart/2005/8/layout/process1"/>
    <dgm:cxn modelId="{1ECB8B28-AB7A-884E-A122-2044168047D4}" type="presOf" srcId="{9EEFCF85-1BEF-4FC2-A2D2-514142484176}" destId="{73196C9C-FD4A-264A-8A16-6FA30F4BFF7F}" srcOrd="0" destOrd="0" presId="urn:microsoft.com/office/officeart/2005/8/layout/process1"/>
    <dgm:cxn modelId="{5C036F4D-41F0-014F-84F0-FFAE03268097}" type="presOf" srcId="{6200A8B1-0AB9-4CDA-9CBF-14FE08D71169}" destId="{565C1674-4D14-7249-A6CD-D6870D40ECB2}" srcOrd="1" destOrd="0" presId="urn:microsoft.com/office/officeart/2005/8/layout/process1"/>
    <dgm:cxn modelId="{6CBE4C66-7007-41DA-BB8C-4E005CC06DA5}" srcId="{9EEFCF85-1BEF-4FC2-A2D2-514142484176}" destId="{BD982B38-AE9E-4F8F-A133-243F8BC5066E}" srcOrd="0" destOrd="0" parTransId="{15999C7C-3714-4425-AD01-F5DB151C10E7}" sibTransId="{6200A8B1-0AB9-4CDA-9CBF-14FE08D71169}"/>
    <dgm:cxn modelId="{2A51EA88-40B6-4650-8070-6104F7BE7FA6}" srcId="{9EEFCF85-1BEF-4FC2-A2D2-514142484176}" destId="{5DE60576-B6B9-4627-BBCC-CDC579911433}" srcOrd="2" destOrd="0" parTransId="{DB9ACC4E-585D-4B69-8D13-5960B333277B}" sibTransId="{B2C0F472-13B6-478E-80A3-ECD4FD6D70DD}"/>
    <dgm:cxn modelId="{3D0346A2-58A2-664E-B1E0-BC234179CE06}" type="presOf" srcId="{0A5B7388-A0EE-477E-B5A9-FE127F41469B}" destId="{108457ED-BB84-6745-97B0-CBFA7BD91C97}" srcOrd="0" destOrd="0" presId="urn:microsoft.com/office/officeart/2005/8/layout/process1"/>
    <dgm:cxn modelId="{1A1236CC-E79B-F746-B3AB-53D15D40F632}" type="presOf" srcId="{6200A8B1-0AB9-4CDA-9CBF-14FE08D71169}" destId="{C3AEC2E1-0E6E-A24C-9062-69A9C69B908A}" srcOrd="0" destOrd="0" presId="urn:microsoft.com/office/officeart/2005/8/layout/process1"/>
    <dgm:cxn modelId="{F3142AD1-A507-A342-9D57-8C1BC7EB657E}" type="presOf" srcId="{19AF8DD3-6959-4476-B98E-9761C198E84E}" destId="{2F0EEEFD-9A6A-9847-80DA-E5AF27744829}" srcOrd="0" destOrd="0" presId="urn:microsoft.com/office/officeart/2005/8/layout/process1"/>
    <dgm:cxn modelId="{980D49DA-1BA1-DD41-857F-C6FC19E049E8}" type="presOf" srcId="{BD982B38-AE9E-4F8F-A133-243F8BC5066E}" destId="{060160B2-BF85-9E43-A736-B20042BC787A}" srcOrd="0" destOrd="0" presId="urn:microsoft.com/office/officeart/2005/8/layout/process1"/>
    <dgm:cxn modelId="{6BE0D9E2-666C-7643-9EFA-6040BBCC545E}" type="presOf" srcId="{19AF8DD3-6959-4476-B98E-9761C198E84E}" destId="{ECD5C6F6-3004-F441-AF91-A6294F4EC8BA}" srcOrd="1" destOrd="0" presId="urn:microsoft.com/office/officeart/2005/8/layout/process1"/>
    <dgm:cxn modelId="{7CC20547-504F-F74D-9B0E-551824061732}" type="presParOf" srcId="{73196C9C-FD4A-264A-8A16-6FA30F4BFF7F}" destId="{060160B2-BF85-9E43-A736-B20042BC787A}" srcOrd="0" destOrd="0" presId="urn:microsoft.com/office/officeart/2005/8/layout/process1"/>
    <dgm:cxn modelId="{E20096AF-4F39-474F-BD4A-522C70EB688D}" type="presParOf" srcId="{73196C9C-FD4A-264A-8A16-6FA30F4BFF7F}" destId="{C3AEC2E1-0E6E-A24C-9062-69A9C69B908A}" srcOrd="1" destOrd="0" presId="urn:microsoft.com/office/officeart/2005/8/layout/process1"/>
    <dgm:cxn modelId="{C1338647-FE69-904E-9308-7FB9D81BE822}" type="presParOf" srcId="{C3AEC2E1-0E6E-A24C-9062-69A9C69B908A}" destId="{565C1674-4D14-7249-A6CD-D6870D40ECB2}" srcOrd="0" destOrd="0" presId="urn:microsoft.com/office/officeart/2005/8/layout/process1"/>
    <dgm:cxn modelId="{02E71B88-B919-A145-9737-964B3CCB34A3}" type="presParOf" srcId="{73196C9C-FD4A-264A-8A16-6FA30F4BFF7F}" destId="{108457ED-BB84-6745-97B0-CBFA7BD91C97}" srcOrd="2" destOrd="0" presId="urn:microsoft.com/office/officeart/2005/8/layout/process1"/>
    <dgm:cxn modelId="{8F889C53-209B-D44D-9729-78B18C591BBF}" type="presParOf" srcId="{73196C9C-FD4A-264A-8A16-6FA30F4BFF7F}" destId="{2F0EEEFD-9A6A-9847-80DA-E5AF27744829}" srcOrd="3" destOrd="0" presId="urn:microsoft.com/office/officeart/2005/8/layout/process1"/>
    <dgm:cxn modelId="{C4CEE19B-2F8C-544B-BA4A-0A9DBC1F1A2D}" type="presParOf" srcId="{2F0EEEFD-9A6A-9847-80DA-E5AF27744829}" destId="{ECD5C6F6-3004-F441-AF91-A6294F4EC8BA}" srcOrd="0" destOrd="0" presId="urn:microsoft.com/office/officeart/2005/8/layout/process1"/>
    <dgm:cxn modelId="{E78ED3A6-2C66-F44B-B3C4-1D3A70D114AA}" type="presParOf" srcId="{73196C9C-FD4A-264A-8A16-6FA30F4BFF7F}" destId="{25848763-CB29-0A45-B651-BC0C8CA0291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DFF9A2-6F0A-4048-BD6B-489FA435125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A38E7CC-FB4E-467B-8D7E-D78B1E3931DF}">
      <dgm:prSet/>
      <dgm:spPr/>
      <dgm:t>
        <a:bodyPr/>
        <a:lstStyle/>
        <a:p>
          <a:pPr>
            <a:lnSpc>
              <a:spcPct val="100000"/>
            </a:lnSpc>
          </a:pPr>
          <a:r>
            <a:rPr lang="en-IN" b="0" i="0" dirty="0"/>
            <a:t>Pipelines: </a:t>
          </a:r>
          <a:r>
            <a:rPr lang="en-IN" b="0" i="0" dirty="0" err="1"/>
            <a:t>GenAI</a:t>
          </a:r>
          <a:r>
            <a:rPr lang="en-IN" b="0" i="0" dirty="0"/>
            <a:t> provides intelligent troubleshooting suggestions during pipeline execution by generating pipeline code from text descriptions and existing context, such as variable keys and automation scripts.</a:t>
          </a:r>
          <a:endParaRPr lang="en-US" dirty="0"/>
        </a:p>
      </dgm:t>
    </dgm:pt>
    <dgm:pt modelId="{814EC91E-124B-474E-82E1-1797ED115BA6}" type="parTrans" cxnId="{927A2312-4BF0-41E8-B5B5-0C0BC2D887BD}">
      <dgm:prSet/>
      <dgm:spPr/>
      <dgm:t>
        <a:bodyPr/>
        <a:lstStyle/>
        <a:p>
          <a:endParaRPr lang="en-US"/>
        </a:p>
      </dgm:t>
    </dgm:pt>
    <dgm:pt modelId="{9F18212D-817B-4859-9298-226B6500C98D}" type="sibTrans" cxnId="{927A2312-4BF0-41E8-B5B5-0C0BC2D887BD}">
      <dgm:prSet/>
      <dgm:spPr/>
      <dgm:t>
        <a:bodyPr/>
        <a:lstStyle/>
        <a:p>
          <a:endParaRPr lang="en-US"/>
        </a:p>
      </dgm:t>
    </dgm:pt>
    <dgm:pt modelId="{85ADFCCE-6915-44E6-959C-4781AA70787A}">
      <dgm:prSet/>
      <dgm:spPr/>
      <dgm:t>
        <a:bodyPr/>
        <a:lstStyle/>
        <a:p>
          <a:pPr>
            <a:lnSpc>
              <a:spcPct val="100000"/>
            </a:lnSpc>
          </a:pPr>
          <a:r>
            <a:rPr lang="en-IN" b="0" i="0" dirty="0"/>
            <a:t>Infrastructure management: Error encountered during Infrastructure as Code execution is a potential candidate for analysis. </a:t>
          </a:r>
          <a:r>
            <a:rPr lang="en-IN" b="0" i="0" dirty="0" err="1"/>
            <a:t>GenAI</a:t>
          </a:r>
          <a:r>
            <a:rPr lang="en-IN" b="0" i="0" dirty="0"/>
            <a:t> can help DevOps engineers troubleshoot and move forward quickly.</a:t>
          </a:r>
          <a:endParaRPr lang="en-US" dirty="0"/>
        </a:p>
      </dgm:t>
    </dgm:pt>
    <dgm:pt modelId="{5CC0E449-5B2D-42D7-9586-040265DBD023}" type="parTrans" cxnId="{95DAF380-8CCC-4B14-8A79-DD53F57CA47F}">
      <dgm:prSet/>
      <dgm:spPr/>
      <dgm:t>
        <a:bodyPr/>
        <a:lstStyle/>
        <a:p>
          <a:endParaRPr lang="en-US"/>
        </a:p>
      </dgm:t>
    </dgm:pt>
    <dgm:pt modelId="{8897DD33-AD95-47B4-ADD4-F3FA39290A67}" type="sibTrans" cxnId="{95DAF380-8CCC-4B14-8A79-DD53F57CA47F}">
      <dgm:prSet/>
      <dgm:spPr/>
      <dgm:t>
        <a:bodyPr/>
        <a:lstStyle/>
        <a:p>
          <a:endParaRPr lang="en-US"/>
        </a:p>
      </dgm:t>
    </dgm:pt>
    <dgm:pt modelId="{8267F3B0-C23D-4A4F-ADBE-2AEE25732D16}">
      <dgm:prSet/>
      <dgm:spPr/>
      <dgm:t>
        <a:bodyPr/>
        <a:lstStyle/>
        <a:p>
          <a:pPr>
            <a:lnSpc>
              <a:spcPct val="100000"/>
            </a:lnSpc>
          </a:pPr>
          <a:r>
            <a:rPr lang="en-IN" b="0" i="0" dirty="0"/>
            <a:t>Logs: Centralized logging requires parsing logs into fields for accurate search and analysis. Also, </a:t>
          </a:r>
          <a:r>
            <a:rPr lang="en-IN" b="0" i="0" dirty="0" err="1"/>
            <a:t>GenAI</a:t>
          </a:r>
          <a:r>
            <a:rPr lang="en-IN" b="0" i="0" dirty="0"/>
            <a:t> can address errors observed in production logs, improving the system’s overall performance.</a:t>
          </a:r>
          <a:endParaRPr lang="en-US" dirty="0"/>
        </a:p>
      </dgm:t>
    </dgm:pt>
    <dgm:pt modelId="{AECDC971-8C73-4732-BF55-59EC58556B30}" type="parTrans" cxnId="{0C9FBC9A-2A7E-47EC-B42E-E69E06D757AC}">
      <dgm:prSet/>
      <dgm:spPr/>
      <dgm:t>
        <a:bodyPr/>
        <a:lstStyle/>
        <a:p>
          <a:endParaRPr lang="en-US"/>
        </a:p>
      </dgm:t>
    </dgm:pt>
    <dgm:pt modelId="{7B626E4B-9930-4BEC-AC2C-D80A476A291D}" type="sibTrans" cxnId="{0C9FBC9A-2A7E-47EC-B42E-E69E06D757AC}">
      <dgm:prSet/>
      <dgm:spPr/>
      <dgm:t>
        <a:bodyPr/>
        <a:lstStyle/>
        <a:p>
          <a:endParaRPr lang="en-US"/>
        </a:p>
      </dgm:t>
    </dgm:pt>
    <dgm:pt modelId="{DD56E665-42A8-4F31-92E9-DD1BD5862E35}">
      <dgm:prSet/>
      <dgm:spPr/>
      <dgm:t>
        <a:bodyPr/>
        <a:lstStyle/>
        <a:p>
          <a:pPr>
            <a:lnSpc>
              <a:spcPct val="100000"/>
            </a:lnSpc>
          </a:pPr>
          <a:r>
            <a:rPr lang="en-IN" b="0" i="0" dirty="0"/>
            <a:t>Security scan: This use case involves performing a security scan of the code for the infrastructure creation to check for vulnerabilities such as wide-open networks across IP and ports.</a:t>
          </a:r>
          <a:endParaRPr lang="en-US" dirty="0"/>
        </a:p>
      </dgm:t>
    </dgm:pt>
    <dgm:pt modelId="{38B0C10A-0B85-4BD3-A5A9-86BFC8B56CFB}" type="parTrans" cxnId="{616841AB-E966-40D6-8E5E-8BFC67C311A6}">
      <dgm:prSet/>
      <dgm:spPr/>
      <dgm:t>
        <a:bodyPr/>
        <a:lstStyle/>
        <a:p>
          <a:endParaRPr lang="en-US"/>
        </a:p>
      </dgm:t>
    </dgm:pt>
    <dgm:pt modelId="{67F46540-B93C-4237-9C9F-57855CF61564}" type="sibTrans" cxnId="{616841AB-E966-40D6-8E5E-8BFC67C311A6}">
      <dgm:prSet/>
      <dgm:spPr/>
      <dgm:t>
        <a:bodyPr/>
        <a:lstStyle/>
        <a:p>
          <a:endParaRPr lang="en-US"/>
        </a:p>
      </dgm:t>
    </dgm:pt>
    <dgm:pt modelId="{88AFE4D9-8E08-41BA-BCC3-CA93745B9FB2}" type="pres">
      <dgm:prSet presAssocID="{ACDFF9A2-6F0A-4048-BD6B-489FA435125A}" presName="root" presStyleCnt="0">
        <dgm:presLayoutVars>
          <dgm:dir/>
          <dgm:resizeHandles val="exact"/>
        </dgm:presLayoutVars>
      </dgm:prSet>
      <dgm:spPr/>
    </dgm:pt>
    <dgm:pt modelId="{BF9DAA42-AD86-4D8E-BDE6-7271A0FDE3DA}" type="pres">
      <dgm:prSet presAssocID="{CA38E7CC-FB4E-467B-8D7E-D78B1E3931DF}" presName="compNode" presStyleCnt="0"/>
      <dgm:spPr/>
    </dgm:pt>
    <dgm:pt modelId="{88077954-C204-456C-8BAE-DA77D6596A59}" type="pres">
      <dgm:prSet presAssocID="{CA38E7CC-FB4E-467B-8D7E-D78B1E3931DF}" presName="bgRect" presStyleLbl="bgShp" presStyleIdx="0" presStyleCnt="4"/>
      <dgm:spPr/>
    </dgm:pt>
    <dgm:pt modelId="{8A7D9E94-CB89-4CAD-B2A6-5AB128CC5D5F}" type="pres">
      <dgm:prSet presAssocID="{CA38E7CC-FB4E-467B-8D7E-D78B1E3931D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EB87DE8D-ADA5-412D-8A49-648A431BA7D9}" type="pres">
      <dgm:prSet presAssocID="{CA38E7CC-FB4E-467B-8D7E-D78B1E3931DF}" presName="spaceRect" presStyleCnt="0"/>
      <dgm:spPr/>
    </dgm:pt>
    <dgm:pt modelId="{DF424E89-8FD8-41AD-B77D-66E58D746308}" type="pres">
      <dgm:prSet presAssocID="{CA38E7CC-FB4E-467B-8D7E-D78B1E3931DF}" presName="parTx" presStyleLbl="revTx" presStyleIdx="0" presStyleCnt="4">
        <dgm:presLayoutVars>
          <dgm:chMax val="0"/>
          <dgm:chPref val="0"/>
        </dgm:presLayoutVars>
      </dgm:prSet>
      <dgm:spPr/>
    </dgm:pt>
    <dgm:pt modelId="{FF9EBFA5-D498-49D1-82B9-0692371D07D5}" type="pres">
      <dgm:prSet presAssocID="{9F18212D-817B-4859-9298-226B6500C98D}" presName="sibTrans" presStyleCnt="0"/>
      <dgm:spPr/>
    </dgm:pt>
    <dgm:pt modelId="{B5002D1E-F07D-412A-AFCC-56F97F74F998}" type="pres">
      <dgm:prSet presAssocID="{85ADFCCE-6915-44E6-959C-4781AA70787A}" presName="compNode" presStyleCnt="0"/>
      <dgm:spPr/>
    </dgm:pt>
    <dgm:pt modelId="{C699077B-51E1-4A68-B9BB-81BA05F91A20}" type="pres">
      <dgm:prSet presAssocID="{85ADFCCE-6915-44E6-959C-4781AA70787A}" presName="bgRect" presStyleLbl="bgShp" presStyleIdx="1" presStyleCnt="4"/>
      <dgm:spPr/>
    </dgm:pt>
    <dgm:pt modelId="{79113B3C-3063-49CD-964C-1C4957F44E74}" type="pres">
      <dgm:prSet presAssocID="{85ADFCCE-6915-44E6-959C-4781AA70787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D849F55A-F9F9-4DA9-8537-2F0615DB0CC2}" type="pres">
      <dgm:prSet presAssocID="{85ADFCCE-6915-44E6-959C-4781AA70787A}" presName="spaceRect" presStyleCnt="0"/>
      <dgm:spPr/>
    </dgm:pt>
    <dgm:pt modelId="{7E5AF59A-9177-4C23-8552-E5CA68E797E8}" type="pres">
      <dgm:prSet presAssocID="{85ADFCCE-6915-44E6-959C-4781AA70787A}" presName="parTx" presStyleLbl="revTx" presStyleIdx="1" presStyleCnt="4">
        <dgm:presLayoutVars>
          <dgm:chMax val="0"/>
          <dgm:chPref val="0"/>
        </dgm:presLayoutVars>
      </dgm:prSet>
      <dgm:spPr/>
    </dgm:pt>
    <dgm:pt modelId="{AB605A07-4334-4ACF-80CE-D6ED4B4684E7}" type="pres">
      <dgm:prSet presAssocID="{8897DD33-AD95-47B4-ADD4-F3FA39290A67}" presName="sibTrans" presStyleCnt="0"/>
      <dgm:spPr/>
    </dgm:pt>
    <dgm:pt modelId="{4EC88564-A448-4D69-9BCD-E88A4BE20439}" type="pres">
      <dgm:prSet presAssocID="{8267F3B0-C23D-4A4F-ADBE-2AEE25732D16}" presName="compNode" presStyleCnt="0"/>
      <dgm:spPr/>
    </dgm:pt>
    <dgm:pt modelId="{C193C7EE-6F2F-4503-BD52-8E22FAD0374F}" type="pres">
      <dgm:prSet presAssocID="{8267F3B0-C23D-4A4F-ADBE-2AEE25732D16}" presName="bgRect" presStyleLbl="bgShp" presStyleIdx="2" presStyleCnt="4"/>
      <dgm:spPr/>
    </dgm:pt>
    <dgm:pt modelId="{2EBAE07A-6A5F-4496-BBE0-149F1BFCD420}" type="pres">
      <dgm:prSet presAssocID="{8267F3B0-C23D-4A4F-ADBE-2AEE25732D1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search"/>
        </a:ext>
      </dgm:extLst>
    </dgm:pt>
    <dgm:pt modelId="{D8C66910-E7A1-465D-B97E-389CB7A28564}" type="pres">
      <dgm:prSet presAssocID="{8267F3B0-C23D-4A4F-ADBE-2AEE25732D16}" presName="spaceRect" presStyleCnt="0"/>
      <dgm:spPr/>
    </dgm:pt>
    <dgm:pt modelId="{1182632F-E9E2-49D9-942D-008B6562A036}" type="pres">
      <dgm:prSet presAssocID="{8267F3B0-C23D-4A4F-ADBE-2AEE25732D16}" presName="parTx" presStyleLbl="revTx" presStyleIdx="2" presStyleCnt="4">
        <dgm:presLayoutVars>
          <dgm:chMax val="0"/>
          <dgm:chPref val="0"/>
        </dgm:presLayoutVars>
      </dgm:prSet>
      <dgm:spPr/>
    </dgm:pt>
    <dgm:pt modelId="{BEA7315F-D72D-4727-AD57-97B5AD9DAC47}" type="pres">
      <dgm:prSet presAssocID="{7B626E4B-9930-4BEC-AC2C-D80A476A291D}" presName="sibTrans" presStyleCnt="0"/>
      <dgm:spPr/>
    </dgm:pt>
    <dgm:pt modelId="{254CE996-3FDA-43E2-856F-38F153A9D880}" type="pres">
      <dgm:prSet presAssocID="{DD56E665-42A8-4F31-92E9-DD1BD5862E35}" presName="compNode" presStyleCnt="0"/>
      <dgm:spPr/>
    </dgm:pt>
    <dgm:pt modelId="{8489CA34-7CE4-4359-AC5B-D5DCF3F6FE80}" type="pres">
      <dgm:prSet presAssocID="{DD56E665-42A8-4F31-92E9-DD1BD5862E35}" presName="bgRect" presStyleLbl="bgShp" presStyleIdx="3" presStyleCnt="4"/>
      <dgm:spPr/>
    </dgm:pt>
    <dgm:pt modelId="{7E6C2D88-0D44-4644-B5A1-44BD8D3D4182}" type="pres">
      <dgm:prSet presAssocID="{DD56E665-42A8-4F31-92E9-DD1BD5862E3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B8AF436B-9EBE-4C4C-8B81-0FC24286F583}" type="pres">
      <dgm:prSet presAssocID="{DD56E665-42A8-4F31-92E9-DD1BD5862E35}" presName="spaceRect" presStyleCnt="0"/>
      <dgm:spPr/>
    </dgm:pt>
    <dgm:pt modelId="{ED3B8ECB-CD03-4F9B-8410-DE0640CC3501}" type="pres">
      <dgm:prSet presAssocID="{DD56E665-42A8-4F31-92E9-DD1BD5862E35}" presName="parTx" presStyleLbl="revTx" presStyleIdx="3" presStyleCnt="4">
        <dgm:presLayoutVars>
          <dgm:chMax val="0"/>
          <dgm:chPref val="0"/>
        </dgm:presLayoutVars>
      </dgm:prSet>
      <dgm:spPr/>
    </dgm:pt>
  </dgm:ptLst>
  <dgm:cxnLst>
    <dgm:cxn modelId="{32800D0E-33DE-FC4B-A578-C610BE2D265A}" type="presOf" srcId="{8267F3B0-C23D-4A4F-ADBE-2AEE25732D16}" destId="{1182632F-E9E2-49D9-942D-008B6562A036}" srcOrd="0" destOrd="0" presId="urn:microsoft.com/office/officeart/2018/2/layout/IconVerticalSolidList"/>
    <dgm:cxn modelId="{927A2312-4BF0-41E8-B5B5-0C0BC2D887BD}" srcId="{ACDFF9A2-6F0A-4048-BD6B-489FA435125A}" destId="{CA38E7CC-FB4E-467B-8D7E-D78B1E3931DF}" srcOrd="0" destOrd="0" parTransId="{814EC91E-124B-474E-82E1-1797ED115BA6}" sibTransId="{9F18212D-817B-4859-9298-226B6500C98D}"/>
    <dgm:cxn modelId="{64CAAC49-B7B1-FD4B-BD22-9457BE947CBF}" type="presOf" srcId="{DD56E665-42A8-4F31-92E9-DD1BD5862E35}" destId="{ED3B8ECB-CD03-4F9B-8410-DE0640CC3501}" srcOrd="0" destOrd="0" presId="urn:microsoft.com/office/officeart/2018/2/layout/IconVerticalSolidList"/>
    <dgm:cxn modelId="{0901FA75-7600-3249-81F4-3FECD77E1559}" type="presOf" srcId="{ACDFF9A2-6F0A-4048-BD6B-489FA435125A}" destId="{88AFE4D9-8E08-41BA-BCC3-CA93745B9FB2}" srcOrd="0" destOrd="0" presId="urn:microsoft.com/office/officeart/2018/2/layout/IconVerticalSolidList"/>
    <dgm:cxn modelId="{95DAF380-8CCC-4B14-8A79-DD53F57CA47F}" srcId="{ACDFF9A2-6F0A-4048-BD6B-489FA435125A}" destId="{85ADFCCE-6915-44E6-959C-4781AA70787A}" srcOrd="1" destOrd="0" parTransId="{5CC0E449-5B2D-42D7-9586-040265DBD023}" sibTransId="{8897DD33-AD95-47B4-ADD4-F3FA39290A67}"/>
    <dgm:cxn modelId="{0C9FBC9A-2A7E-47EC-B42E-E69E06D757AC}" srcId="{ACDFF9A2-6F0A-4048-BD6B-489FA435125A}" destId="{8267F3B0-C23D-4A4F-ADBE-2AEE25732D16}" srcOrd="2" destOrd="0" parTransId="{AECDC971-8C73-4732-BF55-59EC58556B30}" sibTransId="{7B626E4B-9930-4BEC-AC2C-D80A476A291D}"/>
    <dgm:cxn modelId="{616841AB-E966-40D6-8E5E-8BFC67C311A6}" srcId="{ACDFF9A2-6F0A-4048-BD6B-489FA435125A}" destId="{DD56E665-42A8-4F31-92E9-DD1BD5862E35}" srcOrd="3" destOrd="0" parTransId="{38B0C10A-0B85-4BD3-A5A9-86BFC8B56CFB}" sibTransId="{67F46540-B93C-4237-9C9F-57855CF61564}"/>
    <dgm:cxn modelId="{1BFFC8C9-6BC2-C147-8686-A9A1479F5506}" type="presOf" srcId="{85ADFCCE-6915-44E6-959C-4781AA70787A}" destId="{7E5AF59A-9177-4C23-8552-E5CA68E797E8}" srcOrd="0" destOrd="0" presId="urn:microsoft.com/office/officeart/2018/2/layout/IconVerticalSolidList"/>
    <dgm:cxn modelId="{3BDDBEF1-294D-D348-A564-7036B23E25B2}" type="presOf" srcId="{CA38E7CC-FB4E-467B-8D7E-D78B1E3931DF}" destId="{DF424E89-8FD8-41AD-B77D-66E58D746308}" srcOrd="0" destOrd="0" presId="urn:microsoft.com/office/officeart/2018/2/layout/IconVerticalSolidList"/>
    <dgm:cxn modelId="{AF333F58-B38C-4D46-8571-1B8CFAA7A5BE}" type="presParOf" srcId="{88AFE4D9-8E08-41BA-BCC3-CA93745B9FB2}" destId="{BF9DAA42-AD86-4D8E-BDE6-7271A0FDE3DA}" srcOrd="0" destOrd="0" presId="urn:microsoft.com/office/officeart/2018/2/layout/IconVerticalSolidList"/>
    <dgm:cxn modelId="{7F303F3D-81AA-D047-9B49-C03FD597201E}" type="presParOf" srcId="{BF9DAA42-AD86-4D8E-BDE6-7271A0FDE3DA}" destId="{88077954-C204-456C-8BAE-DA77D6596A59}" srcOrd="0" destOrd="0" presId="urn:microsoft.com/office/officeart/2018/2/layout/IconVerticalSolidList"/>
    <dgm:cxn modelId="{B5957E9B-9262-6E48-97C1-5C1243240504}" type="presParOf" srcId="{BF9DAA42-AD86-4D8E-BDE6-7271A0FDE3DA}" destId="{8A7D9E94-CB89-4CAD-B2A6-5AB128CC5D5F}" srcOrd="1" destOrd="0" presId="urn:microsoft.com/office/officeart/2018/2/layout/IconVerticalSolidList"/>
    <dgm:cxn modelId="{BC7358C0-BBD2-2F40-A2CD-661A5C56CBDD}" type="presParOf" srcId="{BF9DAA42-AD86-4D8E-BDE6-7271A0FDE3DA}" destId="{EB87DE8D-ADA5-412D-8A49-648A431BA7D9}" srcOrd="2" destOrd="0" presId="urn:microsoft.com/office/officeart/2018/2/layout/IconVerticalSolidList"/>
    <dgm:cxn modelId="{218E5F0B-1E10-4842-A2D5-494C501FF674}" type="presParOf" srcId="{BF9DAA42-AD86-4D8E-BDE6-7271A0FDE3DA}" destId="{DF424E89-8FD8-41AD-B77D-66E58D746308}" srcOrd="3" destOrd="0" presId="urn:microsoft.com/office/officeart/2018/2/layout/IconVerticalSolidList"/>
    <dgm:cxn modelId="{01A4EBFD-8A06-2D42-89B7-CB043FC7ED85}" type="presParOf" srcId="{88AFE4D9-8E08-41BA-BCC3-CA93745B9FB2}" destId="{FF9EBFA5-D498-49D1-82B9-0692371D07D5}" srcOrd="1" destOrd="0" presId="urn:microsoft.com/office/officeart/2018/2/layout/IconVerticalSolidList"/>
    <dgm:cxn modelId="{DC29C5C6-30FE-8141-87D8-4F19208B338D}" type="presParOf" srcId="{88AFE4D9-8E08-41BA-BCC3-CA93745B9FB2}" destId="{B5002D1E-F07D-412A-AFCC-56F97F74F998}" srcOrd="2" destOrd="0" presId="urn:microsoft.com/office/officeart/2018/2/layout/IconVerticalSolidList"/>
    <dgm:cxn modelId="{11FD6D44-70DF-2A46-84BF-59E0DF9812BD}" type="presParOf" srcId="{B5002D1E-F07D-412A-AFCC-56F97F74F998}" destId="{C699077B-51E1-4A68-B9BB-81BA05F91A20}" srcOrd="0" destOrd="0" presId="urn:microsoft.com/office/officeart/2018/2/layout/IconVerticalSolidList"/>
    <dgm:cxn modelId="{D823AC44-8C65-7B4D-833B-3E933F79A22B}" type="presParOf" srcId="{B5002D1E-F07D-412A-AFCC-56F97F74F998}" destId="{79113B3C-3063-49CD-964C-1C4957F44E74}" srcOrd="1" destOrd="0" presId="urn:microsoft.com/office/officeart/2018/2/layout/IconVerticalSolidList"/>
    <dgm:cxn modelId="{EB1B32EB-76CD-334B-B36E-486707DFBF1B}" type="presParOf" srcId="{B5002D1E-F07D-412A-AFCC-56F97F74F998}" destId="{D849F55A-F9F9-4DA9-8537-2F0615DB0CC2}" srcOrd="2" destOrd="0" presId="urn:microsoft.com/office/officeart/2018/2/layout/IconVerticalSolidList"/>
    <dgm:cxn modelId="{F5DA9371-CF0D-6240-9BB4-60A2117071C4}" type="presParOf" srcId="{B5002D1E-F07D-412A-AFCC-56F97F74F998}" destId="{7E5AF59A-9177-4C23-8552-E5CA68E797E8}" srcOrd="3" destOrd="0" presId="urn:microsoft.com/office/officeart/2018/2/layout/IconVerticalSolidList"/>
    <dgm:cxn modelId="{6DB4C673-B7FE-6D49-A6DB-A541D853AAF0}" type="presParOf" srcId="{88AFE4D9-8E08-41BA-BCC3-CA93745B9FB2}" destId="{AB605A07-4334-4ACF-80CE-D6ED4B4684E7}" srcOrd="3" destOrd="0" presId="urn:microsoft.com/office/officeart/2018/2/layout/IconVerticalSolidList"/>
    <dgm:cxn modelId="{5AADFF7C-E9E7-8A46-B83A-5EBC38192DF0}" type="presParOf" srcId="{88AFE4D9-8E08-41BA-BCC3-CA93745B9FB2}" destId="{4EC88564-A448-4D69-9BCD-E88A4BE20439}" srcOrd="4" destOrd="0" presId="urn:microsoft.com/office/officeart/2018/2/layout/IconVerticalSolidList"/>
    <dgm:cxn modelId="{C1334660-A379-BE4B-984C-DA57B2775140}" type="presParOf" srcId="{4EC88564-A448-4D69-9BCD-E88A4BE20439}" destId="{C193C7EE-6F2F-4503-BD52-8E22FAD0374F}" srcOrd="0" destOrd="0" presId="urn:microsoft.com/office/officeart/2018/2/layout/IconVerticalSolidList"/>
    <dgm:cxn modelId="{C4FE8BC3-7978-6C48-89B9-6FB1937183D8}" type="presParOf" srcId="{4EC88564-A448-4D69-9BCD-E88A4BE20439}" destId="{2EBAE07A-6A5F-4496-BBE0-149F1BFCD420}" srcOrd="1" destOrd="0" presId="urn:microsoft.com/office/officeart/2018/2/layout/IconVerticalSolidList"/>
    <dgm:cxn modelId="{42A11BE9-9787-684A-9457-95278CA6A7AB}" type="presParOf" srcId="{4EC88564-A448-4D69-9BCD-E88A4BE20439}" destId="{D8C66910-E7A1-465D-B97E-389CB7A28564}" srcOrd="2" destOrd="0" presId="urn:microsoft.com/office/officeart/2018/2/layout/IconVerticalSolidList"/>
    <dgm:cxn modelId="{5AA43B56-D0D0-574D-B781-B0F6D5CF4841}" type="presParOf" srcId="{4EC88564-A448-4D69-9BCD-E88A4BE20439}" destId="{1182632F-E9E2-49D9-942D-008B6562A036}" srcOrd="3" destOrd="0" presId="urn:microsoft.com/office/officeart/2018/2/layout/IconVerticalSolidList"/>
    <dgm:cxn modelId="{4D6721B7-E239-1740-AC2A-A5EFCF2E9B41}" type="presParOf" srcId="{88AFE4D9-8E08-41BA-BCC3-CA93745B9FB2}" destId="{BEA7315F-D72D-4727-AD57-97B5AD9DAC47}" srcOrd="5" destOrd="0" presId="urn:microsoft.com/office/officeart/2018/2/layout/IconVerticalSolidList"/>
    <dgm:cxn modelId="{FBC7EE67-2B88-3549-ABFB-147733F1EFB0}" type="presParOf" srcId="{88AFE4D9-8E08-41BA-BCC3-CA93745B9FB2}" destId="{254CE996-3FDA-43E2-856F-38F153A9D880}" srcOrd="6" destOrd="0" presId="urn:microsoft.com/office/officeart/2018/2/layout/IconVerticalSolidList"/>
    <dgm:cxn modelId="{C1967058-211C-6E40-ABE9-3F7D96F618BC}" type="presParOf" srcId="{254CE996-3FDA-43E2-856F-38F153A9D880}" destId="{8489CA34-7CE4-4359-AC5B-D5DCF3F6FE80}" srcOrd="0" destOrd="0" presId="urn:microsoft.com/office/officeart/2018/2/layout/IconVerticalSolidList"/>
    <dgm:cxn modelId="{5D89E0DD-04E2-7E48-9D60-C1CF2B5FADE3}" type="presParOf" srcId="{254CE996-3FDA-43E2-856F-38F153A9D880}" destId="{7E6C2D88-0D44-4644-B5A1-44BD8D3D4182}" srcOrd="1" destOrd="0" presId="urn:microsoft.com/office/officeart/2018/2/layout/IconVerticalSolidList"/>
    <dgm:cxn modelId="{6C45F0CC-D89C-2C44-A82F-D188670D1025}" type="presParOf" srcId="{254CE996-3FDA-43E2-856F-38F153A9D880}" destId="{B8AF436B-9EBE-4C4C-8B81-0FC24286F583}" srcOrd="2" destOrd="0" presId="urn:microsoft.com/office/officeart/2018/2/layout/IconVerticalSolidList"/>
    <dgm:cxn modelId="{6EA38C33-7AEE-194B-9D2B-854B867644DD}" type="presParOf" srcId="{254CE996-3FDA-43E2-856F-38F153A9D880}" destId="{ED3B8ECB-CD03-4F9B-8410-DE0640CC350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0160B2-BF85-9E43-A736-B20042BC787A}">
      <dsp:nvSpPr>
        <dsp:cNvPr id="0" name=""/>
        <dsp:cNvSpPr/>
      </dsp:nvSpPr>
      <dsp:spPr>
        <a:xfrm>
          <a:off x="9242" y="252254"/>
          <a:ext cx="2762398" cy="344436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i="0" kern="1200" dirty="0"/>
            <a:t>Ensure data privacy</a:t>
          </a:r>
          <a:r>
            <a:rPr lang="en-IN" sz="1600" b="0" i="0" kern="1200" dirty="0"/>
            <a:t>: Enterprises must ensure that data sent to large language models (LLMs) is secure and private. LLM providers, such as Meta, Amazon Web Services, Azure, or Google Cloud Platform, guarantee that enterprise data is not used to train generally available models and provide a mechanism to run LMMs within the enterprise network to keep data under control.</a:t>
          </a:r>
          <a:endParaRPr lang="en-US" sz="1600" kern="1200" dirty="0"/>
        </a:p>
      </dsp:txBody>
      <dsp:txXfrm>
        <a:off x="90150" y="333162"/>
        <a:ext cx="2600582" cy="3282550"/>
      </dsp:txXfrm>
    </dsp:sp>
    <dsp:sp modelId="{C3AEC2E1-0E6E-A24C-9062-69A9C69B908A}">
      <dsp:nvSpPr>
        <dsp:cNvPr id="0" name=""/>
        <dsp:cNvSpPr/>
      </dsp:nvSpPr>
      <dsp:spPr>
        <a:xfrm>
          <a:off x="3047880" y="1631900"/>
          <a:ext cx="585628" cy="68507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047880" y="1768915"/>
        <a:ext cx="409940" cy="411044"/>
      </dsp:txXfrm>
    </dsp:sp>
    <dsp:sp modelId="{108457ED-BB84-6745-97B0-CBFA7BD91C97}">
      <dsp:nvSpPr>
        <dsp:cNvPr id="0" name=""/>
        <dsp:cNvSpPr/>
      </dsp:nvSpPr>
      <dsp:spPr>
        <a:xfrm>
          <a:off x="3876600" y="252254"/>
          <a:ext cx="2762398" cy="3444366"/>
        </a:xfrm>
        <a:prstGeom prst="roundRect">
          <a:avLst>
            <a:gd name="adj" fmla="val 10000"/>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i="0" kern="1200" dirty="0"/>
            <a:t>Contextualize model retraining</a:t>
          </a:r>
          <a:r>
            <a:rPr lang="en-IN" sz="1600" b="0" i="0" kern="1200" dirty="0"/>
            <a:t>: Enterprises can start with generally available LLMs to save costs when using </a:t>
          </a:r>
          <a:r>
            <a:rPr lang="en-IN" sz="1600" b="0" i="0" kern="1200" dirty="0" err="1"/>
            <a:t>GenAI</a:t>
          </a:r>
          <a:r>
            <a:rPr lang="en-IN" sz="1600" b="0" i="0" kern="1200" dirty="0"/>
            <a:t>. Evaluate and retrain them with custom data if needed for higher accuracy and to eliminate model biases. Incremental retraining or Reinforcement Learning from Human Feedback (RLHF) may be required.</a:t>
          </a:r>
          <a:endParaRPr lang="en-US" sz="1600" kern="1200" dirty="0"/>
        </a:p>
      </dsp:txBody>
      <dsp:txXfrm>
        <a:off x="3957508" y="333162"/>
        <a:ext cx="2600582" cy="3282550"/>
      </dsp:txXfrm>
    </dsp:sp>
    <dsp:sp modelId="{2F0EEEFD-9A6A-9847-80DA-E5AF27744829}">
      <dsp:nvSpPr>
        <dsp:cNvPr id="0" name=""/>
        <dsp:cNvSpPr/>
      </dsp:nvSpPr>
      <dsp:spPr>
        <a:xfrm>
          <a:off x="6915239" y="1631900"/>
          <a:ext cx="585628" cy="685074"/>
        </a:xfrm>
        <a:prstGeom prst="rightArrow">
          <a:avLst>
            <a:gd name="adj1" fmla="val 60000"/>
            <a:gd name="adj2" fmla="val 50000"/>
          </a:avLst>
        </a:prstGeom>
        <a:solidFill>
          <a:schemeClr val="accent5">
            <a:hueOff val="-6758543"/>
            <a:satOff val="-17419"/>
            <a:lumOff val="-117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915239" y="1768915"/>
        <a:ext cx="409940" cy="411044"/>
      </dsp:txXfrm>
    </dsp:sp>
    <dsp:sp modelId="{25848763-CB29-0A45-B651-BC0C8CA02916}">
      <dsp:nvSpPr>
        <dsp:cNvPr id="0" name=""/>
        <dsp:cNvSpPr/>
      </dsp:nvSpPr>
      <dsp:spPr>
        <a:xfrm>
          <a:off x="7743958" y="252254"/>
          <a:ext cx="2762398" cy="3444366"/>
        </a:xfrm>
        <a:prstGeom prst="roundRect">
          <a:avLst>
            <a:gd name="adj" fmla="val 1000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i="0" kern="1200" dirty="0"/>
            <a:t>Adopt a platform approach</a:t>
          </a:r>
          <a:r>
            <a:rPr lang="en-IN" sz="1600" b="0" i="0" kern="1200" dirty="0"/>
            <a:t>: Leveraging </a:t>
          </a:r>
          <a:r>
            <a:rPr lang="en-IN" sz="1600" b="0" i="0" kern="1200" dirty="0" err="1"/>
            <a:t>GenAI</a:t>
          </a:r>
          <a:r>
            <a:rPr lang="en-IN" sz="1600" b="0" i="0" kern="1200" dirty="0"/>
            <a:t> as a platform for DevOps offers a comprehensive mechanism that supplements multiple dimensions, starting with error log analysis and expanding to vulnerability analysis.</a:t>
          </a:r>
          <a:endParaRPr lang="en-US" sz="1600" kern="1200" dirty="0"/>
        </a:p>
      </dsp:txBody>
      <dsp:txXfrm>
        <a:off x="7824866" y="333162"/>
        <a:ext cx="2600582" cy="32825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77954-C204-456C-8BAE-DA77D6596A59}">
      <dsp:nvSpPr>
        <dsp:cNvPr id="0" name=""/>
        <dsp:cNvSpPr/>
      </dsp:nvSpPr>
      <dsp:spPr>
        <a:xfrm>
          <a:off x="0" y="2258"/>
          <a:ext cx="6830568" cy="1144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7D9E94-CB89-4CAD-B2A6-5AB128CC5D5F}">
      <dsp:nvSpPr>
        <dsp:cNvPr id="0" name=""/>
        <dsp:cNvSpPr/>
      </dsp:nvSpPr>
      <dsp:spPr>
        <a:xfrm>
          <a:off x="346197" y="259760"/>
          <a:ext cx="629450" cy="6294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424E89-8FD8-41AD-B77D-66E58D746308}">
      <dsp:nvSpPr>
        <dsp:cNvPr id="0" name=""/>
        <dsp:cNvSpPr/>
      </dsp:nvSpPr>
      <dsp:spPr>
        <a:xfrm>
          <a:off x="1321846" y="2258"/>
          <a:ext cx="5508721" cy="1144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22" tIns="121122" rIns="121122" bIns="121122" numCol="1" spcCol="1270" anchor="ctr" anchorCtr="0">
          <a:noAutofit/>
        </a:bodyPr>
        <a:lstStyle/>
        <a:p>
          <a:pPr marL="0" lvl="0" indent="0" algn="l" defTabSz="622300">
            <a:lnSpc>
              <a:spcPct val="100000"/>
            </a:lnSpc>
            <a:spcBef>
              <a:spcPct val="0"/>
            </a:spcBef>
            <a:spcAft>
              <a:spcPct val="35000"/>
            </a:spcAft>
            <a:buNone/>
          </a:pPr>
          <a:r>
            <a:rPr lang="en-IN" sz="1400" b="0" i="0" kern="1200" dirty="0"/>
            <a:t>Pipelines: </a:t>
          </a:r>
          <a:r>
            <a:rPr lang="en-IN" sz="1400" b="0" i="0" kern="1200" dirty="0" err="1"/>
            <a:t>GenAI</a:t>
          </a:r>
          <a:r>
            <a:rPr lang="en-IN" sz="1400" b="0" i="0" kern="1200" dirty="0"/>
            <a:t> provides intelligent troubleshooting suggestions during pipeline execution by generating pipeline code from text descriptions and existing context, such as variable keys and automation scripts.</a:t>
          </a:r>
          <a:endParaRPr lang="en-US" sz="1400" kern="1200" dirty="0"/>
        </a:p>
      </dsp:txBody>
      <dsp:txXfrm>
        <a:off x="1321846" y="2258"/>
        <a:ext cx="5508721" cy="1144455"/>
      </dsp:txXfrm>
    </dsp:sp>
    <dsp:sp modelId="{C699077B-51E1-4A68-B9BB-81BA05F91A20}">
      <dsp:nvSpPr>
        <dsp:cNvPr id="0" name=""/>
        <dsp:cNvSpPr/>
      </dsp:nvSpPr>
      <dsp:spPr>
        <a:xfrm>
          <a:off x="0" y="1432827"/>
          <a:ext cx="6830568" cy="1144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113B3C-3063-49CD-964C-1C4957F44E74}">
      <dsp:nvSpPr>
        <dsp:cNvPr id="0" name=""/>
        <dsp:cNvSpPr/>
      </dsp:nvSpPr>
      <dsp:spPr>
        <a:xfrm>
          <a:off x="346197" y="1690330"/>
          <a:ext cx="629450" cy="6294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5AF59A-9177-4C23-8552-E5CA68E797E8}">
      <dsp:nvSpPr>
        <dsp:cNvPr id="0" name=""/>
        <dsp:cNvSpPr/>
      </dsp:nvSpPr>
      <dsp:spPr>
        <a:xfrm>
          <a:off x="1321846" y="1432827"/>
          <a:ext cx="5508721" cy="1144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22" tIns="121122" rIns="121122" bIns="121122" numCol="1" spcCol="1270" anchor="ctr" anchorCtr="0">
          <a:noAutofit/>
        </a:bodyPr>
        <a:lstStyle/>
        <a:p>
          <a:pPr marL="0" lvl="0" indent="0" algn="l" defTabSz="622300">
            <a:lnSpc>
              <a:spcPct val="100000"/>
            </a:lnSpc>
            <a:spcBef>
              <a:spcPct val="0"/>
            </a:spcBef>
            <a:spcAft>
              <a:spcPct val="35000"/>
            </a:spcAft>
            <a:buNone/>
          </a:pPr>
          <a:r>
            <a:rPr lang="en-IN" sz="1400" b="0" i="0" kern="1200" dirty="0"/>
            <a:t>Infrastructure management: Error encountered during Infrastructure as Code execution is a potential candidate for analysis. </a:t>
          </a:r>
          <a:r>
            <a:rPr lang="en-IN" sz="1400" b="0" i="0" kern="1200" dirty="0" err="1"/>
            <a:t>GenAI</a:t>
          </a:r>
          <a:r>
            <a:rPr lang="en-IN" sz="1400" b="0" i="0" kern="1200" dirty="0"/>
            <a:t> can help DevOps engineers troubleshoot and move forward quickly.</a:t>
          </a:r>
          <a:endParaRPr lang="en-US" sz="1400" kern="1200" dirty="0"/>
        </a:p>
      </dsp:txBody>
      <dsp:txXfrm>
        <a:off x="1321846" y="1432827"/>
        <a:ext cx="5508721" cy="1144455"/>
      </dsp:txXfrm>
    </dsp:sp>
    <dsp:sp modelId="{C193C7EE-6F2F-4503-BD52-8E22FAD0374F}">
      <dsp:nvSpPr>
        <dsp:cNvPr id="0" name=""/>
        <dsp:cNvSpPr/>
      </dsp:nvSpPr>
      <dsp:spPr>
        <a:xfrm>
          <a:off x="0" y="2863396"/>
          <a:ext cx="6830568" cy="1144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BAE07A-6A5F-4496-BBE0-149F1BFCD420}">
      <dsp:nvSpPr>
        <dsp:cNvPr id="0" name=""/>
        <dsp:cNvSpPr/>
      </dsp:nvSpPr>
      <dsp:spPr>
        <a:xfrm>
          <a:off x="346197" y="3120899"/>
          <a:ext cx="629450" cy="6294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82632F-E9E2-49D9-942D-008B6562A036}">
      <dsp:nvSpPr>
        <dsp:cNvPr id="0" name=""/>
        <dsp:cNvSpPr/>
      </dsp:nvSpPr>
      <dsp:spPr>
        <a:xfrm>
          <a:off x="1321846" y="2863396"/>
          <a:ext cx="5508721" cy="1144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22" tIns="121122" rIns="121122" bIns="121122" numCol="1" spcCol="1270" anchor="ctr" anchorCtr="0">
          <a:noAutofit/>
        </a:bodyPr>
        <a:lstStyle/>
        <a:p>
          <a:pPr marL="0" lvl="0" indent="0" algn="l" defTabSz="622300">
            <a:lnSpc>
              <a:spcPct val="100000"/>
            </a:lnSpc>
            <a:spcBef>
              <a:spcPct val="0"/>
            </a:spcBef>
            <a:spcAft>
              <a:spcPct val="35000"/>
            </a:spcAft>
            <a:buNone/>
          </a:pPr>
          <a:r>
            <a:rPr lang="en-IN" sz="1400" b="0" i="0" kern="1200" dirty="0"/>
            <a:t>Logs: Centralized logging requires parsing logs into fields for accurate search and analysis. Also, </a:t>
          </a:r>
          <a:r>
            <a:rPr lang="en-IN" sz="1400" b="0" i="0" kern="1200" dirty="0" err="1"/>
            <a:t>GenAI</a:t>
          </a:r>
          <a:r>
            <a:rPr lang="en-IN" sz="1400" b="0" i="0" kern="1200" dirty="0"/>
            <a:t> can address errors observed in production logs, improving the system’s overall performance.</a:t>
          </a:r>
          <a:endParaRPr lang="en-US" sz="1400" kern="1200" dirty="0"/>
        </a:p>
      </dsp:txBody>
      <dsp:txXfrm>
        <a:off x="1321846" y="2863396"/>
        <a:ext cx="5508721" cy="1144455"/>
      </dsp:txXfrm>
    </dsp:sp>
    <dsp:sp modelId="{8489CA34-7CE4-4359-AC5B-D5DCF3F6FE80}">
      <dsp:nvSpPr>
        <dsp:cNvPr id="0" name=""/>
        <dsp:cNvSpPr/>
      </dsp:nvSpPr>
      <dsp:spPr>
        <a:xfrm>
          <a:off x="0" y="4293966"/>
          <a:ext cx="6830568" cy="1144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6C2D88-0D44-4644-B5A1-44BD8D3D4182}">
      <dsp:nvSpPr>
        <dsp:cNvPr id="0" name=""/>
        <dsp:cNvSpPr/>
      </dsp:nvSpPr>
      <dsp:spPr>
        <a:xfrm>
          <a:off x="346197" y="4551468"/>
          <a:ext cx="629450" cy="6294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3B8ECB-CD03-4F9B-8410-DE0640CC3501}">
      <dsp:nvSpPr>
        <dsp:cNvPr id="0" name=""/>
        <dsp:cNvSpPr/>
      </dsp:nvSpPr>
      <dsp:spPr>
        <a:xfrm>
          <a:off x="1321846" y="4293966"/>
          <a:ext cx="5508721" cy="1144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22" tIns="121122" rIns="121122" bIns="121122" numCol="1" spcCol="1270" anchor="ctr" anchorCtr="0">
          <a:noAutofit/>
        </a:bodyPr>
        <a:lstStyle/>
        <a:p>
          <a:pPr marL="0" lvl="0" indent="0" algn="l" defTabSz="622300">
            <a:lnSpc>
              <a:spcPct val="100000"/>
            </a:lnSpc>
            <a:spcBef>
              <a:spcPct val="0"/>
            </a:spcBef>
            <a:spcAft>
              <a:spcPct val="35000"/>
            </a:spcAft>
            <a:buNone/>
          </a:pPr>
          <a:r>
            <a:rPr lang="en-IN" sz="1400" b="0" i="0" kern="1200" dirty="0"/>
            <a:t>Security scan: This use case involves performing a security scan of the code for the infrastructure creation to check for vulnerabilities such as wide-open networks across IP and ports.</a:t>
          </a:r>
          <a:endParaRPr lang="en-US" sz="1400" kern="1200" dirty="0"/>
        </a:p>
      </dsp:txBody>
      <dsp:txXfrm>
        <a:off x="1321846" y="4293966"/>
        <a:ext cx="5508721" cy="114445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C9E50-EE3B-3B9D-8A1D-9429B2A77FF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F489534-EC44-C85C-7676-1CFD2AEAB9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3AD66D9-2BE8-E5EB-C680-A33910FF7774}"/>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5" name="Footer Placeholder 4">
            <a:extLst>
              <a:ext uri="{FF2B5EF4-FFF2-40B4-BE49-F238E27FC236}">
                <a16:creationId xmlns:a16="http://schemas.microsoft.com/office/drawing/2014/main" id="{A7BE902A-6E17-F26D-B0FE-E61A383262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9BEE29-048D-F54B-E8AD-64555DE08A32}"/>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3178697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604B-FC97-F07E-F1BF-43B3D9CA1F5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D6052F1-4E87-F201-838C-08024650907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6CF68D7-F085-95FC-220B-F0BA88F8FB79}"/>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5" name="Footer Placeholder 4">
            <a:extLst>
              <a:ext uri="{FF2B5EF4-FFF2-40B4-BE49-F238E27FC236}">
                <a16:creationId xmlns:a16="http://schemas.microsoft.com/office/drawing/2014/main" id="{0330F4EF-105A-F664-4A47-6E945197F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880E29-8C43-68C1-0B11-EA73E3ECA553}"/>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852853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5924B-A441-4A47-7E85-72F15848FAA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92705F1-742B-5056-5AA2-C3169B4669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06F7293-82B9-5011-5984-85772CFA52EB}"/>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5" name="Footer Placeholder 4">
            <a:extLst>
              <a:ext uri="{FF2B5EF4-FFF2-40B4-BE49-F238E27FC236}">
                <a16:creationId xmlns:a16="http://schemas.microsoft.com/office/drawing/2014/main" id="{CFBEF2D5-68E1-3C7E-E047-9693B6B504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B644BF-B348-160D-9DC9-ACF0F463012A}"/>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1612099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B4990-B81E-912D-E6B4-3A7A04D5594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D6B3B97-8D4E-A4B7-E070-CFF2459E915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1C3E831-7BE6-D5ED-88EC-F86A36B53A0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41ED87E-EE38-F177-789C-1BE51C8D4C1D}"/>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6" name="Footer Placeholder 5">
            <a:extLst>
              <a:ext uri="{FF2B5EF4-FFF2-40B4-BE49-F238E27FC236}">
                <a16:creationId xmlns:a16="http://schemas.microsoft.com/office/drawing/2014/main" id="{BCB9D92C-F90B-57B1-730B-6D36A2DBD5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ED0BF8-A514-5D32-AC2A-1AA17C4CE6A0}"/>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1300583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D55FD-B43B-F732-AF42-18F65D5E362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CC60A09-B5AB-DB87-426C-C0F9456BA4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9E63F0F-2AE1-6A97-19BD-E8D74A06C71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E5045BF-86D5-5998-CB1D-70CFA4974A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17ADA26-C938-E2C2-C4DE-F7C2743B13B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017C91C-CB55-6578-BACA-196150AF3F0D}"/>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8" name="Footer Placeholder 7">
            <a:extLst>
              <a:ext uri="{FF2B5EF4-FFF2-40B4-BE49-F238E27FC236}">
                <a16:creationId xmlns:a16="http://schemas.microsoft.com/office/drawing/2014/main" id="{57F472FF-C792-F655-62CA-9385FF2B36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4DF1FF-7D99-649B-34F1-DFB4133328D8}"/>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3413557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F635-71EC-1715-8130-4D4D622C9B7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2366C84-A4B8-4020-D7C4-A9847F76CA89}"/>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4" name="Footer Placeholder 3">
            <a:extLst>
              <a:ext uri="{FF2B5EF4-FFF2-40B4-BE49-F238E27FC236}">
                <a16:creationId xmlns:a16="http://schemas.microsoft.com/office/drawing/2014/main" id="{35729DA2-BFF3-069C-3818-8501611539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9B90DB-E355-3AF6-A6FD-6265C91FD31B}"/>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2294977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F1281A-2BF2-1B4A-568C-089FC3DEC9FB}"/>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3" name="Footer Placeholder 2">
            <a:extLst>
              <a:ext uri="{FF2B5EF4-FFF2-40B4-BE49-F238E27FC236}">
                <a16:creationId xmlns:a16="http://schemas.microsoft.com/office/drawing/2014/main" id="{142741DE-C1F8-68C0-6618-5174655116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F74EAE-962F-8280-72BC-739B2DD08629}"/>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1478132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47A34-DF3E-6DED-8B76-3C72EBE054E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B822F52-C84E-FF54-E7BC-C3E4FA2EEE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BAF377-80E6-3223-2A1C-39F95A8A3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DB24C81-A793-B449-9C24-AE4CEA98CED0}"/>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6" name="Footer Placeholder 5">
            <a:extLst>
              <a:ext uri="{FF2B5EF4-FFF2-40B4-BE49-F238E27FC236}">
                <a16:creationId xmlns:a16="http://schemas.microsoft.com/office/drawing/2014/main" id="{9342DEC9-F735-DFFB-2F55-2CECC3CBE8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C4707B-E74D-E0AD-B010-2D32E2BE7392}"/>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174855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04E30-18DA-DBB5-D947-6FF0727DA00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9B96239-ABFF-A7DB-1AB4-70D73170A8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E6C236-ACD5-FEA2-76A3-F6ED929677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3EC0390-7B65-FA6D-6795-E645E862E291}"/>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6" name="Footer Placeholder 5">
            <a:extLst>
              <a:ext uri="{FF2B5EF4-FFF2-40B4-BE49-F238E27FC236}">
                <a16:creationId xmlns:a16="http://schemas.microsoft.com/office/drawing/2014/main" id="{DCA6DA2D-B25A-E6D6-84F7-C3B67BC38E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75ADBE-E7B1-4725-1857-36723B8F5851}"/>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3982470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D141D-0357-A000-7A04-3D8DDF13188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D4066E4-434A-74EB-EC6A-9604171E23B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F5D0173-0B51-9212-3A8A-393BD0E87C52}"/>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5" name="Footer Placeholder 4">
            <a:extLst>
              <a:ext uri="{FF2B5EF4-FFF2-40B4-BE49-F238E27FC236}">
                <a16:creationId xmlns:a16="http://schemas.microsoft.com/office/drawing/2014/main" id="{321AD352-68EB-52AA-7929-E9BACD4FA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61ACB6-B126-FDDB-6E46-3E5E5B3E52B6}"/>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3107027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864FA1-60CF-8A88-CBAE-72669859167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F653CD4-5847-48CD-A7CC-EABD36EB6F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ACF5EE5-20AE-BEE6-78BC-4B73DFF14BCB}"/>
              </a:ext>
            </a:extLst>
          </p:cNvPr>
          <p:cNvSpPr>
            <a:spLocks noGrp="1"/>
          </p:cNvSpPr>
          <p:nvPr>
            <p:ph type="dt" sz="half" idx="10"/>
          </p:nvPr>
        </p:nvSpPr>
        <p:spPr/>
        <p:txBody>
          <a:bodyPr/>
          <a:lstStyle/>
          <a:p>
            <a:fld id="{11773573-E6CE-1D4D-8B9F-C55021FAE212}" type="datetimeFigureOut">
              <a:rPr lang="en-US" smtClean="0"/>
              <a:t>3/7/24</a:t>
            </a:fld>
            <a:endParaRPr lang="en-US"/>
          </a:p>
        </p:txBody>
      </p:sp>
      <p:sp>
        <p:nvSpPr>
          <p:cNvPr id="5" name="Footer Placeholder 4">
            <a:extLst>
              <a:ext uri="{FF2B5EF4-FFF2-40B4-BE49-F238E27FC236}">
                <a16:creationId xmlns:a16="http://schemas.microsoft.com/office/drawing/2014/main" id="{9E0234BD-FE93-B060-07C6-2BCCFC2604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664EC6-12FA-AD3D-36B8-927EA2855C4D}"/>
              </a:ext>
            </a:extLst>
          </p:cNvPr>
          <p:cNvSpPr>
            <a:spLocks noGrp="1"/>
          </p:cNvSpPr>
          <p:nvPr>
            <p:ph type="sldNum" sz="quarter" idx="12"/>
          </p:nvPr>
        </p:nvSpPr>
        <p:spPr/>
        <p:txBody>
          <a:bodyPr/>
          <a:lstStyle/>
          <a:p>
            <a:fld id="{692AC927-EEFA-0E4A-9F8E-16BB34BEAA13}" type="slidenum">
              <a:rPr lang="en-US" smtClean="0"/>
              <a:t>‹#›</a:t>
            </a:fld>
            <a:endParaRPr lang="en-US"/>
          </a:p>
        </p:txBody>
      </p:sp>
    </p:spTree>
    <p:extLst>
      <p:ext uri="{BB962C8B-B14F-4D97-AF65-F5344CB8AC3E}">
        <p14:creationId xmlns:p14="http://schemas.microsoft.com/office/powerpoint/2010/main" val="3763348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F6C8AA-5BDF-0FBF-0F8D-F644878B83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5824F09-0F16-622E-EBCF-F08F4D96AA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D9934C6-10C0-D797-B5A8-A14757888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773573-E6CE-1D4D-8B9F-C55021FAE212}" type="datetimeFigureOut">
              <a:rPr lang="en-US" smtClean="0"/>
              <a:t>3/7/24</a:t>
            </a:fld>
            <a:endParaRPr lang="en-US"/>
          </a:p>
        </p:txBody>
      </p:sp>
      <p:sp>
        <p:nvSpPr>
          <p:cNvPr id="5" name="Footer Placeholder 4">
            <a:extLst>
              <a:ext uri="{FF2B5EF4-FFF2-40B4-BE49-F238E27FC236}">
                <a16:creationId xmlns:a16="http://schemas.microsoft.com/office/drawing/2014/main" id="{A0D43C9C-CFF5-D423-FD25-60085F1354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82E6731-03AA-E319-74B9-F90B31137F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2AC927-EEFA-0E4A-9F8E-16BB34BEAA13}" type="slidenum">
              <a:rPr lang="en-US" smtClean="0"/>
              <a:t>‹#›</a:t>
            </a:fld>
            <a:endParaRPr lang="en-US"/>
          </a:p>
        </p:txBody>
      </p:sp>
    </p:spTree>
    <p:extLst>
      <p:ext uri="{BB962C8B-B14F-4D97-AF65-F5344CB8AC3E}">
        <p14:creationId xmlns:p14="http://schemas.microsoft.com/office/powerpoint/2010/main" val="2085667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37F933-6E32-7E5E-94AC-FFE7A92CA4AF}"/>
              </a:ext>
            </a:extLst>
          </p:cNvPr>
          <p:cNvSpPr>
            <a:spLocks noGrp="1"/>
          </p:cNvSpPr>
          <p:nvPr>
            <p:ph type="ctrTitle"/>
          </p:nvPr>
        </p:nvSpPr>
        <p:spPr>
          <a:xfrm>
            <a:off x="838200" y="451381"/>
            <a:ext cx="10512552" cy="4066540"/>
          </a:xfrm>
        </p:spPr>
        <p:txBody>
          <a:bodyPr anchor="b">
            <a:normAutofit/>
          </a:bodyPr>
          <a:lstStyle/>
          <a:p>
            <a:pPr algn="l"/>
            <a:r>
              <a:rPr lang="en-IN" sz="5400" b="1" i="0" dirty="0">
                <a:effectLst/>
                <a:latin typeface="+mn-lt"/>
              </a:rPr>
              <a:t>Accelerating DevOps with </a:t>
            </a:r>
            <a:r>
              <a:rPr lang="en-IN" sz="5400" b="1" i="0" dirty="0" err="1">
                <a:effectLst/>
                <a:latin typeface="+mn-lt"/>
              </a:rPr>
              <a:t>GenAI</a:t>
            </a:r>
            <a:endParaRPr lang="en-US" sz="5400" dirty="0">
              <a:latin typeface="+mn-lt"/>
            </a:endParaRPr>
          </a:p>
        </p:txBody>
      </p:sp>
      <p:sp>
        <p:nvSpPr>
          <p:cNvPr id="33"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199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6A144560-CC2F-F352-BD18-F32E79AB1830}"/>
              </a:ext>
            </a:extLst>
          </p:cNvPr>
          <p:cNvSpPr>
            <a:spLocks noGrp="1"/>
          </p:cNvSpPr>
          <p:nvPr>
            <p:ph type="title"/>
          </p:nvPr>
        </p:nvSpPr>
        <p:spPr>
          <a:xfrm>
            <a:off x="838200" y="365125"/>
            <a:ext cx="10515600" cy="1325563"/>
          </a:xfrm>
        </p:spPr>
        <p:txBody>
          <a:bodyPr>
            <a:normAutofit/>
          </a:bodyPr>
          <a:lstStyle/>
          <a:p>
            <a:r>
              <a:rPr lang="en-IN" sz="3600" b="1" i="0">
                <a:effectLst/>
                <a:latin typeface="+mn-lt"/>
              </a:rPr>
              <a:t>Caveats </a:t>
            </a:r>
            <a:r>
              <a:rPr lang="en-IN" sz="3600" b="1" i="0" dirty="0">
                <a:effectLst/>
                <a:latin typeface="+mn-lt"/>
              </a:rPr>
              <a:t>before onboarding </a:t>
            </a:r>
            <a:r>
              <a:rPr lang="en-IN" sz="3600" b="1" i="0" dirty="0" err="1">
                <a:effectLst/>
                <a:latin typeface="+mn-lt"/>
              </a:rPr>
              <a:t>GenAI</a:t>
            </a:r>
            <a:r>
              <a:rPr lang="en-IN" sz="3600" b="1" i="0" dirty="0">
                <a:effectLst/>
                <a:latin typeface="+mn-lt"/>
              </a:rPr>
              <a:t> in DevOps</a:t>
            </a:r>
            <a:endParaRPr lang="en-US" sz="3600" dirty="0">
              <a:latin typeface="+mn-lt"/>
            </a:endParaRPr>
          </a:p>
        </p:txBody>
      </p:sp>
      <p:sp>
        <p:nvSpPr>
          <p:cNvPr id="35"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Content Placeholder 2">
            <a:extLst>
              <a:ext uri="{FF2B5EF4-FFF2-40B4-BE49-F238E27FC236}">
                <a16:creationId xmlns:a16="http://schemas.microsoft.com/office/drawing/2014/main" id="{C79C3E67-C6C4-5B30-8F4F-A29188625FF8}"/>
              </a:ext>
            </a:extLst>
          </p:cNvPr>
          <p:cNvGraphicFramePr>
            <a:graphicFrameLocks noGrp="1"/>
          </p:cNvGraphicFramePr>
          <p:nvPr>
            <p:ph idx="1"/>
            <p:extLst>
              <p:ext uri="{D42A27DB-BD31-4B8C-83A1-F6EECF244321}">
                <p14:modId xmlns:p14="http://schemas.microsoft.com/office/powerpoint/2010/main" val="1166279726"/>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5789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6A144560-CC2F-F352-BD18-F32E79AB1830}"/>
              </a:ext>
            </a:extLst>
          </p:cNvPr>
          <p:cNvSpPr>
            <a:spLocks noGrp="1"/>
          </p:cNvSpPr>
          <p:nvPr>
            <p:ph type="title"/>
          </p:nvPr>
        </p:nvSpPr>
        <p:spPr>
          <a:xfrm>
            <a:off x="838200" y="365125"/>
            <a:ext cx="10515600" cy="1325563"/>
          </a:xfrm>
        </p:spPr>
        <p:txBody>
          <a:bodyPr>
            <a:normAutofit/>
          </a:bodyPr>
          <a:lstStyle/>
          <a:p>
            <a:r>
              <a:rPr lang="en-IN" sz="3600" b="1" i="0" dirty="0">
                <a:effectLst/>
                <a:latin typeface="+mn-lt"/>
              </a:rPr>
              <a:t>Four </a:t>
            </a:r>
            <a:r>
              <a:rPr lang="en-IN" sz="3600" b="1" i="0" dirty="0" err="1">
                <a:effectLst/>
                <a:latin typeface="+mn-lt"/>
              </a:rPr>
              <a:t>GenAI</a:t>
            </a:r>
            <a:r>
              <a:rPr lang="en-IN" sz="3600" b="1" i="0" dirty="0">
                <a:effectLst/>
                <a:latin typeface="+mn-lt"/>
              </a:rPr>
              <a:t> handoffs in a DevOps cycle</a:t>
            </a:r>
            <a:endParaRPr lang="en-US" sz="3600" b="1" dirty="0">
              <a:latin typeface="+mn-lt"/>
            </a:endParaRPr>
          </a:p>
        </p:txBody>
      </p:sp>
      <p:sp>
        <p:nvSpPr>
          <p:cNvPr id="35"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black background with white text and orange symbols&#10;&#10;Description automatically generated">
            <a:extLst>
              <a:ext uri="{FF2B5EF4-FFF2-40B4-BE49-F238E27FC236}">
                <a16:creationId xmlns:a16="http://schemas.microsoft.com/office/drawing/2014/main" id="{90DFE9DD-754F-8B5C-ED7E-EBB874341CDD}"/>
              </a:ext>
            </a:extLst>
          </p:cNvPr>
          <p:cNvPicPr>
            <a:picLocks noGrp="1" noChangeAspect="1"/>
          </p:cNvPicPr>
          <p:nvPr>
            <p:ph idx="1"/>
          </p:nvPr>
        </p:nvPicPr>
        <p:blipFill>
          <a:blip r:embed="rId2"/>
          <a:stretch>
            <a:fillRect/>
          </a:stretch>
        </p:blipFill>
        <p:spPr>
          <a:xfrm>
            <a:off x="437323" y="2092389"/>
            <a:ext cx="11508242" cy="4400485"/>
          </a:xfrm>
          <a:solidFill>
            <a:schemeClr val="tx1"/>
          </a:solidFill>
        </p:spPr>
      </p:pic>
    </p:spTree>
    <p:extLst>
      <p:ext uri="{BB962C8B-B14F-4D97-AF65-F5344CB8AC3E}">
        <p14:creationId xmlns:p14="http://schemas.microsoft.com/office/powerpoint/2010/main" val="2556361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F9295-46E1-8DCC-BF18-F2A27B2421AD}"/>
              </a:ext>
            </a:extLst>
          </p:cNvPr>
          <p:cNvSpPr>
            <a:spLocks noGrp="1"/>
          </p:cNvSpPr>
          <p:nvPr>
            <p:ph type="title"/>
          </p:nvPr>
        </p:nvSpPr>
        <p:spPr>
          <a:xfrm>
            <a:off x="841248" y="548640"/>
            <a:ext cx="3600860" cy="5431536"/>
          </a:xfrm>
        </p:spPr>
        <p:txBody>
          <a:bodyPr>
            <a:normAutofit/>
          </a:bodyPr>
          <a:lstStyle/>
          <a:p>
            <a:r>
              <a:rPr lang="en-IN" sz="4200" b="1" i="0" dirty="0">
                <a:effectLst/>
                <a:latin typeface="+mn-lt"/>
              </a:rPr>
              <a:t>How </a:t>
            </a:r>
            <a:r>
              <a:rPr lang="en-IN" sz="4200" b="1" i="0" dirty="0" err="1">
                <a:effectLst/>
                <a:latin typeface="+mn-lt"/>
              </a:rPr>
              <a:t>GenAI</a:t>
            </a:r>
            <a:r>
              <a:rPr lang="en-IN" sz="4200" b="1" i="0" dirty="0">
                <a:effectLst/>
                <a:latin typeface="+mn-lt"/>
              </a:rPr>
              <a:t> </a:t>
            </a:r>
            <a:r>
              <a:rPr lang="en-IN" sz="4200" b="1" i="0" dirty="0" err="1">
                <a:effectLst/>
                <a:latin typeface="+mn-lt"/>
              </a:rPr>
              <a:t>platformization</a:t>
            </a:r>
            <a:r>
              <a:rPr lang="en-IN" sz="4200" b="1" i="0" dirty="0">
                <a:effectLst/>
                <a:latin typeface="+mn-lt"/>
              </a:rPr>
              <a:t> unleashes value in DevOps</a:t>
            </a:r>
            <a:endParaRPr lang="en-US" sz="4200" dirty="0"/>
          </a:p>
        </p:txBody>
      </p:sp>
      <p:sp>
        <p:nvSpPr>
          <p:cNvPr id="36"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5D78FDC-2D60-4C7C-8922-B71E733623C7}"/>
              </a:ext>
            </a:extLst>
          </p:cNvPr>
          <p:cNvSpPr>
            <a:spLocks noGrp="1"/>
          </p:cNvSpPr>
          <p:nvPr>
            <p:ph idx="1"/>
          </p:nvPr>
        </p:nvSpPr>
        <p:spPr>
          <a:xfrm>
            <a:off x="5126418" y="552091"/>
            <a:ext cx="6224335" cy="5431536"/>
          </a:xfrm>
        </p:spPr>
        <p:txBody>
          <a:bodyPr anchor="ctr">
            <a:normAutofit/>
          </a:bodyPr>
          <a:lstStyle/>
          <a:p>
            <a:pPr marL="0" indent="0">
              <a:buNone/>
            </a:pPr>
            <a:r>
              <a:rPr lang="en-IN" sz="2000" b="0" i="0" dirty="0">
                <a:effectLst/>
              </a:rPr>
              <a:t>This approach fosters collaboration and design thinking, democratizes downstream activities, and creates end-to-end visibility. Here are a few use cases:</a:t>
            </a:r>
          </a:p>
          <a:p>
            <a:pPr lvl="1"/>
            <a:r>
              <a:rPr lang="en-IN" sz="2000" b="1" i="0" dirty="0">
                <a:effectLst/>
              </a:rPr>
              <a:t>Security Best Practices in Code Generation</a:t>
            </a:r>
            <a:r>
              <a:rPr lang="en-IN" sz="2000" b="0" i="0" dirty="0">
                <a:effectLst/>
              </a:rPr>
              <a:t>: DevOps engineers manage IAM policies and service pipelines. </a:t>
            </a:r>
            <a:r>
              <a:rPr lang="en-IN" sz="2000" b="0" i="0" dirty="0" err="1">
                <a:effectLst/>
              </a:rPr>
              <a:t>GenAI</a:t>
            </a:r>
            <a:r>
              <a:rPr lang="en-IN" sz="2000" b="0" i="0" dirty="0">
                <a:effectLst/>
              </a:rPr>
              <a:t> can generate IAM policies within the current cloud account setup by referring to specific groups, users, accounts, or policies in the code.</a:t>
            </a:r>
          </a:p>
          <a:p>
            <a:pPr lvl="1"/>
            <a:r>
              <a:rPr lang="en-IN" sz="2000" b="1" i="0" dirty="0">
                <a:effectLst/>
              </a:rPr>
              <a:t>Contextualized Configuration Generation: </a:t>
            </a:r>
            <a:r>
              <a:rPr lang="en-IN" sz="2000" b="0" i="0" dirty="0" err="1">
                <a:effectLst/>
              </a:rPr>
              <a:t>GenAI</a:t>
            </a:r>
            <a:r>
              <a:rPr lang="en-IN" sz="2000" b="0" i="0" dirty="0">
                <a:effectLst/>
              </a:rPr>
              <a:t> can create configuration files based on scenarios that incorporate context, such as: configure the app to get severity from </a:t>
            </a:r>
            <a:r>
              <a:rPr lang="en-IN" sz="2000" b="0" i="0" dirty="0" err="1">
                <a:effectLst/>
              </a:rPr>
              <a:t>nowsecure</a:t>
            </a:r>
            <a:r>
              <a:rPr lang="en-IN" sz="2000" b="0" i="0" dirty="0">
                <a:effectLst/>
              </a:rPr>
              <a:t> portal and notify to user via email.</a:t>
            </a:r>
          </a:p>
          <a:p>
            <a:pPr marL="0" indent="0">
              <a:buNone/>
            </a:pPr>
            <a:br>
              <a:rPr lang="en-IN" sz="2000" dirty="0"/>
            </a:br>
            <a:endParaRPr lang="en-US" sz="2000" dirty="0"/>
          </a:p>
        </p:txBody>
      </p:sp>
    </p:spTree>
    <p:extLst>
      <p:ext uri="{BB962C8B-B14F-4D97-AF65-F5344CB8AC3E}">
        <p14:creationId xmlns:p14="http://schemas.microsoft.com/office/powerpoint/2010/main" val="3523813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5" name="Rectangle 64">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6A144560-CC2F-F352-BD18-F32E79AB1830}"/>
              </a:ext>
            </a:extLst>
          </p:cNvPr>
          <p:cNvSpPr>
            <a:spLocks noGrp="1"/>
          </p:cNvSpPr>
          <p:nvPr>
            <p:ph type="title"/>
          </p:nvPr>
        </p:nvSpPr>
        <p:spPr>
          <a:xfrm>
            <a:off x="1045029" y="507160"/>
            <a:ext cx="2993571" cy="5438730"/>
          </a:xfrm>
        </p:spPr>
        <p:txBody>
          <a:bodyPr>
            <a:normAutofit/>
          </a:bodyPr>
          <a:lstStyle/>
          <a:p>
            <a:r>
              <a:rPr lang="en-IN" sz="3200" b="1" i="0" dirty="0">
                <a:effectLst/>
                <a:latin typeface="+mn-lt"/>
              </a:rPr>
              <a:t>Troubleshooting</a:t>
            </a:r>
            <a:endParaRPr lang="en-US" sz="3200" dirty="0">
              <a:latin typeface="+mn-lt"/>
            </a:endParaRPr>
          </a:p>
        </p:txBody>
      </p:sp>
      <p:sp>
        <p:nvSpPr>
          <p:cNvPr id="66" name="Rectangle 65">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3" name="Content Placeholder 2">
            <a:extLst>
              <a:ext uri="{FF2B5EF4-FFF2-40B4-BE49-F238E27FC236}">
                <a16:creationId xmlns:a16="http://schemas.microsoft.com/office/drawing/2014/main" id="{A19A2DB8-DD14-5630-4E5E-FD0E48BC5523}"/>
              </a:ext>
            </a:extLst>
          </p:cNvPr>
          <p:cNvGraphicFramePr>
            <a:graphicFrameLocks noGrp="1"/>
          </p:cNvGraphicFramePr>
          <p:nvPr>
            <p:ph idx="1"/>
            <p:extLst>
              <p:ext uri="{D42A27DB-BD31-4B8C-83A1-F6EECF244321}">
                <p14:modId xmlns:p14="http://schemas.microsoft.com/office/powerpoint/2010/main" val="625262804"/>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8362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61C62-CA33-E894-4F6E-30E8561053B1}"/>
              </a:ext>
            </a:extLst>
          </p:cNvPr>
          <p:cNvSpPr>
            <a:spLocks noGrp="1"/>
          </p:cNvSpPr>
          <p:nvPr>
            <p:ph type="title"/>
          </p:nvPr>
        </p:nvSpPr>
        <p:spPr/>
        <p:txBody>
          <a:bodyPr>
            <a:normAutofit/>
          </a:bodyPr>
          <a:lstStyle/>
          <a:p>
            <a:r>
              <a:rPr lang="en-IN" sz="4400" b="1" i="0" dirty="0">
                <a:effectLst/>
                <a:latin typeface="Gordita"/>
              </a:rPr>
              <a:t>Case in Point: </a:t>
            </a:r>
            <a:r>
              <a:rPr lang="en-IN" sz="4400" b="1" i="0" dirty="0" err="1">
                <a:effectLst/>
                <a:latin typeface="Gordita"/>
              </a:rPr>
              <a:t>GenAI</a:t>
            </a:r>
            <a:r>
              <a:rPr lang="en-IN" sz="4400" b="1" i="0" dirty="0">
                <a:effectLst/>
                <a:latin typeface="Gordita"/>
              </a:rPr>
              <a:t> Architecture for Observability System</a:t>
            </a:r>
            <a:endParaRPr lang="en-US" dirty="0"/>
          </a:p>
        </p:txBody>
      </p:sp>
      <p:sp>
        <p:nvSpPr>
          <p:cNvPr id="3" name="Content Placeholder 2">
            <a:extLst>
              <a:ext uri="{FF2B5EF4-FFF2-40B4-BE49-F238E27FC236}">
                <a16:creationId xmlns:a16="http://schemas.microsoft.com/office/drawing/2014/main" id="{9E0BB24B-848D-E361-B1C1-873C88E0C3A0}"/>
              </a:ext>
            </a:extLst>
          </p:cNvPr>
          <p:cNvSpPr>
            <a:spLocks noGrp="1"/>
          </p:cNvSpPr>
          <p:nvPr>
            <p:ph idx="1"/>
          </p:nvPr>
        </p:nvSpPr>
        <p:spPr/>
        <p:txBody>
          <a:bodyPr>
            <a:noAutofit/>
          </a:bodyPr>
          <a:lstStyle/>
          <a:p>
            <a:pPr marL="0" indent="0">
              <a:buNone/>
            </a:pPr>
            <a:r>
              <a:rPr lang="en-IN" b="0" i="0" dirty="0">
                <a:effectLst/>
              </a:rPr>
              <a:t>Some outline a potential architecture for Enterprises to incorporate </a:t>
            </a:r>
            <a:r>
              <a:rPr lang="en-IN" b="0" i="0" dirty="0" err="1">
                <a:effectLst/>
              </a:rPr>
              <a:t>GenAI</a:t>
            </a:r>
            <a:r>
              <a:rPr lang="en-IN" b="0" i="0" dirty="0">
                <a:effectLst/>
              </a:rPr>
              <a:t> in their DevOps Operations with the following key characteristics:</a:t>
            </a:r>
            <a:endParaRPr lang="en-IN" dirty="0"/>
          </a:p>
          <a:p>
            <a:pPr lvl="1"/>
            <a:r>
              <a:rPr lang="en-IN" sz="2800" b="0" i="0" dirty="0">
                <a:effectLst/>
              </a:rPr>
              <a:t>The platform works with existing Observability systems to complement </a:t>
            </a:r>
            <a:r>
              <a:rPr lang="en-IN" sz="2800" b="0" i="0" dirty="0" err="1">
                <a:effectLst/>
              </a:rPr>
              <a:t>GenAI’s</a:t>
            </a:r>
            <a:r>
              <a:rPr lang="en-IN" sz="2800" b="0" i="0" dirty="0">
                <a:effectLst/>
              </a:rPr>
              <a:t> advantages in operations.</a:t>
            </a:r>
          </a:p>
          <a:p>
            <a:pPr lvl="1"/>
            <a:r>
              <a:rPr lang="en-IN" sz="2800" b="0" i="0" dirty="0">
                <a:effectLst/>
              </a:rPr>
              <a:t>It follows an API-first approach for building applications and providing further integration capabilities.</a:t>
            </a:r>
            <a:endParaRPr lang="en-IN" sz="2800" dirty="0"/>
          </a:p>
          <a:p>
            <a:pPr lvl="1"/>
            <a:r>
              <a:rPr lang="en-IN" sz="2800" b="0" i="0" dirty="0">
                <a:effectLst/>
              </a:rPr>
              <a:t>It is extensible to support multiple use cases as the enterprise goes through different maturity phases of </a:t>
            </a:r>
            <a:r>
              <a:rPr lang="en-IN" sz="2800" b="0" i="0" dirty="0" err="1">
                <a:effectLst/>
              </a:rPr>
              <a:t>GenAI</a:t>
            </a:r>
            <a:r>
              <a:rPr lang="en-IN" sz="2800" b="0" i="0" dirty="0">
                <a:effectLst/>
              </a:rPr>
              <a:t> adoption.</a:t>
            </a:r>
            <a:endParaRPr lang="en-US" sz="2800" dirty="0"/>
          </a:p>
        </p:txBody>
      </p:sp>
    </p:spTree>
    <p:extLst>
      <p:ext uri="{BB962C8B-B14F-4D97-AF65-F5344CB8AC3E}">
        <p14:creationId xmlns:p14="http://schemas.microsoft.com/office/powerpoint/2010/main" val="3536223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F9295-46E1-8DCC-BF18-F2A27B2421AD}"/>
              </a:ext>
            </a:extLst>
          </p:cNvPr>
          <p:cNvSpPr>
            <a:spLocks noGrp="1"/>
          </p:cNvSpPr>
          <p:nvPr>
            <p:ph type="title"/>
          </p:nvPr>
        </p:nvSpPr>
        <p:spPr>
          <a:xfrm>
            <a:off x="841248" y="548640"/>
            <a:ext cx="3600860" cy="5431536"/>
          </a:xfrm>
        </p:spPr>
        <p:txBody>
          <a:bodyPr>
            <a:normAutofit/>
          </a:bodyPr>
          <a:lstStyle/>
          <a:p>
            <a:pPr algn="l"/>
            <a:r>
              <a:rPr lang="en-IN" sz="6000" b="1" i="0" dirty="0">
                <a:effectLst/>
                <a:latin typeface="+mn-lt"/>
              </a:rPr>
              <a:t>Tools</a:t>
            </a:r>
          </a:p>
        </p:txBody>
      </p:sp>
      <p:sp>
        <p:nvSpPr>
          <p:cNvPr id="36"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5D78FDC-2D60-4C7C-8922-B71E733623C7}"/>
              </a:ext>
            </a:extLst>
          </p:cNvPr>
          <p:cNvSpPr>
            <a:spLocks noGrp="1"/>
          </p:cNvSpPr>
          <p:nvPr>
            <p:ph idx="1"/>
          </p:nvPr>
        </p:nvSpPr>
        <p:spPr>
          <a:xfrm>
            <a:off x="5126418" y="552091"/>
            <a:ext cx="6224335" cy="5431536"/>
          </a:xfrm>
        </p:spPr>
        <p:txBody>
          <a:bodyPr anchor="ctr">
            <a:normAutofit/>
          </a:bodyPr>
          <a:lstStyle/>
          <a:p>
            <a:r>
              <a:rPr lang="en-US" sz="2000" dirty="0" err="1"/>
              <a:t>Github</a:t>
            </a:r>
            <a:r>
              <a:rPr lang="en-US" sz="2000" dirty="0"/>
              <a:t> Copilot</a:t>
            </a:r>
          </a:p>
          <a:p>
            <a:r>
              <a:rPr lang="en-US" sz="2000" dirty="0"/>
              <a:t>Claude AI</a:t>
            </a:r>
          </a:p>
          <a:p>
            <a:r>
              <a:rPr lang="en-US" sz="2000" dirty="0" err="1"/>
              <a:t>Copodo</a:t>
            </a:r>
            <a:r>
              <a:rPr lang="en-US" sz="2000" dirty="0"/>
              <a:t> –</a:t>
            </a:r>
            <a:r>
              <a:rPr lang="en-IN" sz="1400" b="1" i="0" dirty="0">
                <a:effectLst/>
                <a:latin typeface="Google Sans"/>
              </a:rPr>
              <a:t>provides a range of DevOps functionalities tailored to Salesforce development and release management. </a:t>
            </a:r>
            <a:r>
              <a:rPr lang="en-IN" sz="1400" b="1" i="0" dirty="0" err="1">
                <a:effectLst/>
                <a:latin typeface="Google Sans"/>
              </a:rPr>
              <a:t>Copado</a:t>
            </a:r>
            <a:r>
              <a:rPr lang="en-IN" sz="1400" b="1" i="0" dirty="0">
                <a:effectLst/>
                <a:latin typeface="Google Sans"/>
              </a:rPr>
              <a:t> helps manage the entire development lifecycle, from planning and building to testing, deploying, and monitoring changes within Salesforce</a:t>
            </a:r>
            <a:endParaRPr lang="en-US" sz="2000" dirty="0"/>
          </a:p>
        </p:txBody>
      </p:sp>
    </p:spTree>
    <p:extLst>
      <p:ext uri="{BB962C8B-B14F-4D97-AF65-F5344CB8AC3E}">
        <p14:creationId xmlns:p14="http://schemas.microsoft.com/office/powerpoint/2010/main" val="221629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F9295-46E1-8DCC-BF18-F2A27B2421AD}"/>
              </a:ext>
            </a:extLst>
          </p:cNvPr>
          <p:cNvSpPr>
            <a:spLocks noGrp="1"/>
          </p:cNvSpPr>
          <p:nvPr>
            <p:ph type="title"/>
          </p:nvPr>
        </p:nvSpPr>
        <p:spPr>
          <a:xfrm>
            <a:off x="841248" y="548640"/>
            <a:ext cx="3600860" cy="5431536"/>
          </a:xfrm>
        </p:spPr>
        <p:txBody>
          <a:bodyPr>
            <a:normAutofit/>
          </a:bodyPr>
          <a:lstStyle/>
          <a:p>
            <a:r>
              <a:rPr lang="en-IN" sz="1800" b="0" i="0" dirty="0">
                <a:effectLst/>
                <a:latin typeface="+mn-lt"/>
              </a:rPr>
              <a:t>As a coding companion, Generative AI’s (</a:t>
            </a:r>
            <a:r>
              <a:rPr lang="en-IN" sz="1800" b="0" i="0" dirty="0" err="1">
                <a:effectLst/>
                <a:latin typeface="+mn-lt"/>
              </a:rPr>
              <a:t>GenAI</a:t>
            </a:r>
            <a:r>
              <a:rPr lang="en-IN" sz="1800" b="0" i="0" dirty="0">
                <a:effectLst/>
                <a:latin typeface="+mn-lt"/>
              </a:rPr>
              <a:t>) potential in code generation, on-the-fly recommendations, security, and reliability make it </a:t>
            </a:r>
            <a:r>
              <a:rPr lang="en-IN" sz="1800" b="0" i="0" strike="noStrike" dirty="0">
                <a:effectLst/>
                <a:latin typeface="+mn-lt"/>
              </a:rPr>
              <a:t>a game-changer for software development</a:t>
            </a:r>
            <a:r>
              <a:rPr lang="en-IN" sz="1800" b="0" i="0" dirty="0">
                <a:effectLst/>
                <a:latin typeface="+mn-lt"/>
              </a:rPr>
              <a:t>.</a:t>
            </a:r>
            <a:br>
              <a:rPr lang="en-IN" sz="1800" b="0" i="0" dirty="0">
                <a:effectLst/>
                <a:latin typeface="+mn-lt"/>
              </a:rPr>
            </a:br>
            <a:r>
              <a:rPr lang="en-IN" sz="1800" b="0" i="0" dirty="0">
                <a:effectLst/>
                <a:latin typeface="+mn-lt"/>
              </a:rPr>
              <a:t> However, the time to value for </a:t>
            </a:r>
            <a:r>
              <a:rPr lang="en-IN" sz="1800" b="0" i="0" dirty="0" err="1">
                <a:effectLst/>
                <a:latin typeface="+mn-lt"/>
              </a:rPr>
              <a:t>GenAI</a:t>
            </a:r>
            <a:r>
              <a:rPr lang="en-IN" sz="1800" b="0" i="0" dirty="0">
                <a:effectLst/>
                <a:latin typeface="+mn-lt"/>
              </a:rPr>
              <a:t> as a coding companion is at least two years from now as per the </a:t>
            </a:r>
            <a:r>
              <a:rPr lang="en-IN" sz="1800" b="0" i="0" strike="noStrike" dirty="0" err="1">
                <a:effectLst/>
                <a:latin typeface="+mn-lt"/>
              </a:rPr>
              <a:t>HfS</a:t>
            </a:r>
            <a:r>
              <a:rPr lang="en-IN" sz="1800" b="0" i="0" strike="noStrike" dirty="0">
                <a:effectLst/>
                <a:latin typeface="+mn-lt"/>
              </a:rPr>
              <a:t> research.</a:t>
            </a:r>
            <a:br>
              <a:rPr lang="en-IN" sz="1800" b="0" i="0" strike="noStrike" dirty="0">
                <a:effectLst/>
                <a:latin typeface="+mn-lt"/>
              </a:rPr>
            </a:br>
            <a:r>
              <a:rPr lang="en-IN" sz="1800" b="0" i="0" dirty="0">
                <a:effectLst/>
                <a:latin typeface="+mn-lt"/>
              </a:rPr>
              <a:t>In DevOps, however, </a:t>
            </a:r>
            <a:r>
              <a:rPr lang="en-IN" sz="1800" b="0" i="0" dirty="0" err="1">
                <a:effectLst/>
                <a:latin typeface="+mn-lt"/>
              </a:rPr>
              <a:t>GenAI</a:t>
            </a:r>
            <a:r>
              <a:rPr lang="en-IN" sz="1800" b="0" i="0" dirty="0">
                <a:effectLst/>
                <a:latin typeface="+mn-lt"/>
              </a:rPr>
              <a:t> finds ready adoption and offers a chance to improve productivity and accelerate code delivery.</a:t>
            </a:r>
            <a:br>
              <a:rPr lang="en-IN" sz="1800" b="0" i="0" strike="noStrike" dirty="0">
                <a:effectLst/>
                <a:latin typeface="+mn-lt"/>
              </a:rPr>
            </a:br>
            <a:br>
              <a:rPr lang="en-IN" sz="1800" dirty="0">
                <a:latin typeface="+mn-lt"/>
              </a:rPr>
            </a:br>
            <a:endParaRPr lang="en-US" sz="1800" dirty="0">
              <a:latin typeface="+mn-lt"/>
            </a:endParaRPr>
          </a:p>
        </p:txBody>
      </p:sp>
      <p:sp>
        <p:nvSpPr>
          <p:cNvPr id="36"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of a graph showing the growth of an enterprise&#10;&#10;Description automatically generated with medium confidence">
            <a:extLst>
              <a:ext uri="{FF2B5EF4-FFF2-40B4-BE49-F238E27FC236}">
                <a16:creationId xmlns:a16="http://schemas.microsoft.com/office/drawing/2014/main" id="{87E52500-4745-7D8D-7ADD-7F623EAAB170}"/>
              </a:ext>
            </a:extLst>
          </p:cNvPr>
          <p:cNvPicPr>
            <a:picLocks noChangeAspect="1"/>
          </p:cNvPicPr>
          <p:nvPr/>
        </p:nvPicPr>
        <p:blipFill>
          <a:blip r:embed="rId2"/>
          <a:stretch>
            <a:fillRect/>
          </a:stretch>
        </p:blipFill>
        <p:spPr>
          <a:xfrm>
            <a:off x="4972348" y="1113579"/>
            <a:ext cx="6903720" cy="4394559"/>
          </a:xfrm>
          <a:prstGeom prst="rect">
            <a:avLst/>
          </a:prstGeom>
          <a:solidFill>
            <a:schemeClr val="tx1"/>
          </a:solidFill>
        </p:spPr>
      </p:pic>
    </p:spTree>
    <p:extLst>
      <p:ext uri="{BB962C8B-B14F-4D97-AF65-F5344CB8AC3E}">
        <p14:creationId xmlns:p14="http://schemas.microsoft.com/office/powerpoint/2010/main" val="3048432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7368c21-b8cf-42cf-bd0b-43ecd4bc62ae}" enabled="0" method="" siteId="{57368c21-b8cf-42cf-bd0b-43ecd4bc62ae}" removed="1"/>
</clbl:labelList>
</file>

<file path=docProps/app.xml><?xml version="1.0" encoding="utf-8"?>
<Properties xmlns="http://schemas.openxmlformats.org/officeDocument/2006/extended-properties" xmlns:vt="http://schemas.openxmlformats.org/officeDocument/2006/docPropsVTypes">
  <TotalTime>291</TotalTime>
  <Words>601</Words>
  <Application>Microsoft Macintosh PowerPoint</Application>
  <PresentationFormat>Widescreen</PresentationFormat>
  <Paragraphs>26</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Google Sans</vt:lpstr>
      <vt:lpstr>Gordita</vt:lpstr>
      <vt:lpstr>Office Theme</vt:lpstr>
      <vt:lpstr>Accelerating DevOps with GenAI</vt:lpstr>
      <vt:lpstr>Caveats before onboarding GenAI in DevOps</vt:lpstr>
      <vt:lpstr>Four GenAI handoffs in a DevOps cycle</vt:lpstr>
      <vt:lpstr>How GenAI platformization unleashes value in DevOps</vt:lpstr>
      <vt:lpstr>Troubleshooting</vt:lpstr>
      <vt:lpstr>Case in Point: GenAI Architecture for Observability System</vt:lpstr>
      <vt:lpstr>Tools</vt:lpstr>
      <vt:lpstr>As a coding companion, Generative AI’s (GenAI) potential in code generation, on-the-fly recommendations, security, and reliability make it a game-changer for software development.  However, the time to value for GenAI as a coding companion is at least two years from now as per the HfS research. In DevOps, however, GenAI finds ready adoption and offers a chance to improve productivity and accelerate code delivery.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Accelerating DevOps with GenAI</dc:title>
  <dc:creator>HIDAYATHULLAH M (CRGL-THIRDPARTY.COM)</dc:creator>
  <cp:lastModifiedBy>HIDAYATHULLAH M (CRGL-THIRDPARTY.COM)</cp:lastModifiedBy>
  <cp:revision>1</cp:revision>
  <dcterms:created xsi:type="dcterms:W3CDTF">2024-03-07T09:27:50Z</dcterms:created>
  <dcterms:modified xsi:type="dcterms:W3CDTF">2024-03-07T14:19:45Z</dcterms:modified>
</cp:coreProperties>
</file>